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Claude Code 使用技巧与注意事项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Arial"/>
              </a:rPr>
              <a:t>从源码反推的用户侧最佳实践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424160" cy="1645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先说明 Claude Code 从工程上是什么，再解释怎样用会更稳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每条技巧都附架构支撑、源码依据和关键代码片段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840480"/>
            <a:ext cx="141732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源码支撑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0" y="3840480"/>
            <a:ext cx="164592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双语术语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3840480"/>
            <a:ext cx="160020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WPS 兼容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217920"/>
            <a:ext cx="10789920" cy="27432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建议节奏：先建立整体模型，再解释默认偏好，最后落到用户技巧。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UML 总览图：Claude Code 的主执行链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Arial"/>
              </a:rPr>
              <a:t>terminal agent runtime（终端代理运行时）视角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69164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69164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用户输入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093976"/>
            <a:ext cx="154533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User Prompt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用户输入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1691640"/>
            <a:ext cx="1874519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0" y="1691640"/>
            <a:ext cx="1874519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提示词栈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2093976"/>
            <a:ext cx="172821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默认行为约束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691640"/>
            <a:ext cx="196596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63440" y="1691640"/>
            <a:ext cx="196596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会话宿主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093976"/>
            <a:ext cx="181965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QueryEngine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Conversation Host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1691640"/>
            <a:ext cx="192024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03720" y="1691640"/>
            <a:ext cx="192024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轮次循环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6872" y="2093976"/>
            <a:ext cx="177393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query.ts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Turn Loop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691640"/>
            <a:ext cx="233172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98280" y="1691640"/>
            <a:ext cx="233172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工具执行流水线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71432" y="2093976"/>
            <a:ext cx="2185415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执行与权限边界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17320" y="3246120"/>
            <a:ext cx="3794760" cy="10972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417320" y="3246120"/>
            <a:ext cx="379476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能力与任务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0472" y="3648456"/>
            <a:ext cx="3648456" cy="6400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Tools / Bash / Read / Edit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Tasks / Subagents / Mailbox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40680" y="3246120"/>
            <a:ext cx="2240280" cy="10972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40680" y="3246120"/>
            <a:ext cx="22402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执行环境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3832" y="3648456"/>
            <a:ext cx="2093976" cy="6400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Filesystem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Shell / MCP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79" y="3246120"/>
            <a:ext cx="2834640" cy="10972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55279" y="3246120"/>
            <a:ext cx="283464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控制面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8431" y="3648456"/>
            <a:ext cx="2688336" cy="6400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Settings / Auth / Policy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Control Plane / 控制面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0" y="4800600"/>
            <a:ext cx="502920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0" y="4800600"/>
            <a:ext cx="502920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可观测性与恢复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16352" y="5202936"/>
            <a:ext cx="488289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Telemetry / Profiling / Transcript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持久化、观测、恢复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331720" y="2148840"/>
            <a:ext cx="22860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434840" y="2148840"/>
            <a:ext cx="22860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629400" y="2148840"/>
            <a:ext cx="27432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823960" y="2148840"/>
            <a:ext cx="27432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372600" y="2606040"/>
            <a:ext cx="411480" cy="64008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6355080" y="3794760"/>
            <a:ext cx="18288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257800" y="3794760"/>
            <a:ext cx="0" cy="100584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一句话：用户技巧之所以有效，是因为它们在影响 prompt stack（提示词栈）→ turn loop（轮次循环）→ tool pipeline（工具执行流水线）这条主链。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Claude Code 不是什么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Claude Code 不是自由聊天助手，而是默认按 software engineering tasks（软件工程任务）来理解用户请求。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不是“随便说一句就稳定帮你把工程活干好”的黑盒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更像 software engineering agent（软件工程代理）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所以输入越工程化，它通常越稳定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源码依据：/Users/bobo/code/claude-code-source-code/src/constants/prompts.ts#L221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从源码看：Claude Code 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Arial"/>
              </a:rPr>
              <a:t>一个 terminal agent runtime（终端代理运行时）的最小架构图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201168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20116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入口层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093976"/>
            <a:ext cx="186537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main.tsx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bootstrap / assembly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1691640"/>
            <a:ext cx="219456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54680" y="1691640"/>
            <a:ext cx="219456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会话层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7832" y="2093976"/>
            <a:ext cx="2048255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QueryEngine.ts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conversation host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0" y="1691640"/>
            <a:ext cx="219456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0" y="1691640"/>
            <a:ext cx="219456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执行层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8152" y="2093976"/>
            <a:ext cx="2048255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query.ts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turn loop / runtime kernel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691640"/>
            <a:ext cx="283464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691640"/>
            <a:ext cx="283464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工具执行层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2093976"/>
            <a:ext cx="268833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toolExecution.ts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54480" y="3337560"/>
            <a:ext cx="2926080" cy="105156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54480" y="3337560"/>
            <a:ext cx="29260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能力面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739896"/>
            <a:ext cx="277977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Tools / Bash / Read / Edit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Tasks / Subagents / Mailbox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3337560"/>
            <a:ext cx="2240280" cy="105156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92040" y="3337560"/>
            <a:ext cx="22402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执行环境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192" y="3739896"/>
            <a:ext cx="209397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Filesystem / Shell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MCP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3337560"/>
            <a:ext cx="2926080" cy="105156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52360" y="3337560"/>
            <a:ext cx="29260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控制面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3739896"/>
            <a:ext cx="277977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Settings / Auth / Policy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/ Permissions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88920" y="2148840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49240" y="2148840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09560" y="2148840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8915400" y="2606040"/>
            <a:ext cx="777240" cy="73152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132320" y="3858768"/>
            <a:ext cx="32004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480560" y="3858768"/>
            <a:ext cx="41148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234440" y="4892040"/>
            <a:ext cx="9738360" cy="685800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E2E8F0"/>
                </a:solidFill>
                <a:latin typeface="Arial"/>
              </a:rPr>
              <a:t>一句话：Claude Code 不是“模型 API + 终端壳”，而是由会话层、轮次循环、工具执行层和控制面组成的本地代理运行时。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代码锚点：main.tsx / QueryEngine.ts / query.ts / toolExecution.ts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时序图：一次请求如何流过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Arial"/>
              </a:rPr>
              <a:t>用一条 request → tool → result 链解释用户提示词为什么有效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325880" cy="6400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13258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User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865376"/>
            <a:ext cx="1179576" cy="18287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/>
        </p:txBody>
      </p:sp>
      <p:cxnSp>
        <p:nvCxnSpPr>
          <p:cNvPr id="8" name="Connector 7"/>
          <p:cNvCxnSpPr/>
          <p:nvPr/>
        </p:nvCxnSpPr>
        <p:spPr>
          <a:xfrm>
            <a:off x="1389888" y="2084831"/>
            <a:ext cx="0" cy="3355849"/>
          </a:xfrm>
          <a:prstGeom prst="line">
            <a:avLst/>
          </a:prstGeom>
          <a:ln w="1270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43200" y="1463040"/>
            <a:ext cx="1325880" cy="6400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463040"/>
            <a:ext cx="13258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Prompt Stack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16352" y="1865376"/>
            <a:ext cx="1179576" cy="18287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/>
        </p:txBody>
      </p:sp>
      <p:cxnSp>
        <p:nvCxnSpPr>
          <p:cNvPr id="12" name="Connector 11"/>
          <p:cNvCxnSpPr/>
          <p:nvPr/>
        </p:nvCxnSpPr>
        <p:spPr>
          <a:xfrm>
            <a:off x="3401568" y="2084831"/>
            <a:ext cx="0" cy="3355849"/>
          </a:xfrm>
          <a:prstGeom prst="line">
            <a:avLst/>
          </a:prstGeom>
          <a:ln w="1270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1463040"/>
            <a:ext cx="1325880" cy="6400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1463040"/>
            <a:ext cx="13258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QueryEngine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1865376"/>
            <a:ext cx="1179576" cy="18287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/>
        </p:txBody>
      </p:sp>
      <p:cxnSp>
        <p:nvCxnSpPr>
          <p:cNvPr id="16" name="Connector 15"/>
          <p:cNvCxnSpPr/>
          <p:nvPr/>
        </p:nvCxnSpPr>
        <p:spPr>
          <a:xfrm>
            <a:off x="5321807" y="2084831"/>
            <a:ext cx="0" cy="3355849"/>
          </a:xfrm>
          <a:prstGeom prst="line">
            <a:avLst/>
          </a:prstGeom>
          <a:ln w="1270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583680" y="1463040"/>
            <a:ext cx="1325880" cy="6400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1463040"/>
            <a:ext cx="13258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query.ts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56832" y="1865376"/>
            <a:ext cx="1179576" cy="18287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/>
        </p:txBody>
      </p:sp>
      <p:cxnSp>
        <p:nvCxnSpPr>
          <p:cNvPr id="20" name="Connector 19"/>
          <p:cNvCxnSpPr/>
          <p:nvPr/>
        </p:nvCxnSpPr>
        <p:spPr>
          <a:xfrm>
            <a:off x="7242048" y="2084831"/>
            <a:ext cx="0" cy="3355849"/>
          </a:xfrm>
          <a:prstGeom prst="line">
            <a:avLst/>
          </a:prstGeom>
          <a:ln w="1270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503920" y="1463040"/>
            <a:ext cx="1325880" cy="6400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3920" y="1463040"/>
            <a:ext cx="13258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Tool Pipeline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7072" y="1865376"/>
            <a:ext cx="1179576" cy="18287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9162288" y="2084831"/>
            <a:ext cx="0" cy="3355849"/>
          </a:xfrm>
          <a:prstGeom prst="line">
            <a:avLst/>
          </a:prstGeom>
          <a:ln w="1270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195560" y="1463040"/>
            <a:ext cx="1325880" cy="6400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195560" y="1463040"/>
            <a:ext cx="13258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8712" y="1865376"/>
            <a:ext cx="1179576" cy="18287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/>
        </p:txBody>
      </p:sp>
      <p:cxnSp>
        <p:nvCxnSpPr>
          <p:cNvPr id="28" name="Connector 27"/>
          <p:cNvCxnSpPr/>
          <p:nvPr/>
        </p:nvCxnSpPr>
        <p:spPr>
          <a:xfrm>
            <a:off x="10853928" y="2084831"/>
            <a:ext cx="0" cy="3355849"/>
          </a:xfrm>
          <a:prstGeom prst="line">
            <a:avLst/>
          </a:prstGeom>
          <a:ln w="1270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389888" y="2468880"/>
            <a:ext cx="201168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499616" y="2322576"/>
            <a:ext cx="1792224" cy="292608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E2E8F0"/>
                </a:solidFill>
                <a:latin typeface="Arial"/>
              </a:rPr>
              <a:t>任务输入 / 约束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401568" y="2880360"/>
            <a:ext cx="192024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3511296" y="2734056"/>
            <a:ext cx="1700784" cy="292608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E2E8F0"/>
                </a:solidFill>
                <a:latin typeface="Arial"/>
              </a:rPr>
              <a:t>组装 prompt 与 context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321808" y="3291840"/>
            <a:ext cx="192024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431536" y="3145536"/>
            <a:ext cx="1700783" cy="292608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E2E8F0"/>
                </a:solidFill>
                <a:latin typeface="Arial"/>
              </a:rPr>
              <a:t>启动 turn loop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242048" y="3703320"/>
            <a:ext cx="192024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351775" y="3557015"/>
            <a:ext cx="1700783" cy="292608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E2E8F0"/>
                </a:solidFill>
                <a:latin typeface="Arial"/>
              </a:rPr>
              <a:t>决定是否调用工具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62288" y="4114800"/>
            <a:ext cx="169164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272015" y="3968496"/>
            <a:ext cx="1472183" cy="292608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E2E8F0"/>
                </a:solidFill>
                <a:latin typeface="Arial"/>
              </a:rPr>
              <a:t>执行 tool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162288" y="4526280"/>
            <a:ext cx="169164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272015" y="4379976"/>
            <a:ext cx="1472183" cy="292608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E2E8F0"/>
                </a:solidFill>
                <a:latin typeface="Arial"/>
              </a:rPr>
              <a:t>tool result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7242048" y="4937760"/>
            <a:ext cx="192024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7351775" y="4791456"/>
            <a:ext cx="1700783" cy="292608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E2E8F0"/>
                </a:solidFill>
                <a:latin typeface="Arial"/>
              </a:rPr>
              <a:t>回灌 messages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97280" y="5650992"/>
            <a:ext cx="10058400" cy="512064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结论：目标、范围、约束、验证写得越清楚，越能稳定影响 prompt stack、turn loop 和 tool pipeline 的每一步。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默认偏好的工作方式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后面的所有使用技巧，都是把源码里的默认偏好显式写进用户提示里。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先读代码，再改代码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最小必要改动，优先复用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优先 dedicated tools（专用工具）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验证后如实汇报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高风险动作先确认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In general, do not propose changes to code you haven't read.
Do NOT use the Bash tool to run commands when a relevant dedicated tool is provided.
Report outcomes faithfully: if tests fail, say so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源码依据：prompts.ts#L230 / #L203 / #L305 / #L240 / #L258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1：目标 + 范围 + 约束 + 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最稳定的输入方式，是把任务写成“目标 + 范围 + 约束 + 验证”。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目标：修复/实现……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范围：只改……相关代码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约束：不要做无关重构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验证：跑测试并说明结果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减少分析 / 实现 / 顺手优化之间的歧义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让 turn loop（轮次循环）围绕明确目标推进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stack（提示词栈）默认把请求理解成软件工程任务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turn loop（轮次循环）会围绕目标、范围和验证持续推进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The user will primarily request you to perform software engineering tasks.
In general, do not propose changes to code you haven't read.
Report outcomes faithfully: if tests fail, say so 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源码依据：prompts.ts#L221 / #L230 / #L240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2：先读代码，再改代码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“先读代码，再改代码”不是建议项，而是源码里的默认工作顺序。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先看 src/foo.ts 和 src/bar.ts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再决定改法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减少无关探索和上下文噪音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更容易沿用现有实现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stack（提示词栈）明确要求先读代码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Plan Mode workflow（规划模式工作流）先 Explore 再规划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In general, do not propose changes to code you haven't read.
If a user asks about or wants you to modify a file, read it first.
1. Explore — Use read-only tools to read code.
Look for existing functions, utilities, and patterns to reuse.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源码依据：prompts.ts#L230，messages.ts#L3344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3：最小改动、优先复用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把“最小改动、优先复用”写出来，能明显降低顺手重构和过早抽象。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做最小必要改动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优先复用现有函数、工具和模式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不要新造一层抽象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抑制范围漂移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避免 one-time helper 和过早抽象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stack（提示词栈）本身就在压制不必要改动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pipeline（工具执行流水线）更适合局部、清晰、可验证的改动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Don't add features, refactor code, or make "improvements" beyond what was asked.
Don't create helpers, utilities, or abstractions for one-time operations.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源码依据：prompts.ts#L200 / #L203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4：优先 dedicated tools（专用工具）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Claude Code 更偏好 dedicated tools（专用工具），Bash 在源码里是 fallback，不是首选。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优先直接读写文件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不要用 Bash 做本可由专用工具完成的事情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专用工具更容易被解释和审查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也更容易受权限和执行链约束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pipeline（工具执行流水线）里，dedicated tools 是一等能力面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Bash 是更自由也更高风险的 fallback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default to using the dedicated tool and only fallback on using the Bash tool ...
Do NOT use the Bash tool to run commands when a relevant dedicated tool is provided.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源码依据：prompts.ts#L301 / #L305，BashTool prompt#L297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5：验证要求要写清楚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不要默认 Claude Code 已经验证过，验证要求必须显式写出来。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改完后跑相关测试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如果没跑，请明确说明没有跑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减少“看似完成、其实没验证”的风险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避免把未验证结果包装成完成状态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stack（提示词栈）明确要求 verify 和 faithful reporting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turn loop（轮次循环）不会替用户假设“验证已经完成”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Before reporting a task complete, verify it actually works.
Never claim "all tests pass" when output shows failures.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源码依据：prompts.ts#L211 / #L240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6：高风险动作先确认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高风险动作先确认，不是额外保守，而是 Claude Code 的默认安全边界。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涉及 push、删除、覆盖、外部发送、破坏性 git 操作时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先告诉我并确认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难以回滚的动作需要更强边界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能减少误执行带来的 blast radius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stack（提示词栈）先定义确认边界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pipeline（工具执行流水线）和 Bash 约束负责执行面收紧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Carefully consider the reversibility and blast radius of actions.
ask for confirmation before proceeding
Only use destructive operations when they are truly the best approach.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源码依据：prompts.ts#L258，BashTool prompt#L304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两个进阶技巧：parallel 与 Plan Mode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对彼此独立的查询，显式允许 parallel（并行），更贴近 Claude Code 的原生工作方式。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独立查询可以显式允许 parallel（并行）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做方案时，先走 Plan Mode workflow（规划模式工作流）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也就是：先 Explore，再规划，再实现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make all independent tool calls in parallel
1. Explore — Use read-only tools to read code.
2. Update the plan file.
3. Ask the user only what code cannot answer.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源码依据：prompts.ts#L310，messages.ts#L3336 / #L3344，BashTool prompt#L298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常见误区与注意事项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大多数误用，本质上都在对抗 Claude Code 源码里的默认工作流。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不要把 Claude Code 当自由聊天助手来用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不要一上来就让它“大改一遍”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不要默认它已经验证过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不要把高风险授权写得太模糊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The user will primarily request you to perform software engineering tasks.
Don't add features, refactor code, or make "improvements" beyond what was asked.
Report outcomes faithfully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源码依据：prompts.ts#L221 / #L200 / #L240 / #L258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最小使用清单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这 6 条就是可以直接拍照带走的 Claude Code 最小使用清单。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任务写成：目标 + 范围 + 约束 + 验证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明确要求先读代码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明确要求最小改动、优先复用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优先 dedicated tools（专用工具），不要默认 Bash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验证结果要如实汇报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高风险动作先确认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建议展示方式：这页只保留动词和结论，不再放源码，作为最后的拍照页。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