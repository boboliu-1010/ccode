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Claude Code：更好地使用它的源码解读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总体架构、工作流程、功能设计、使用技巧与协作建议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这场分享的目标不是完整解释源码，而是利用源码理解，推出更有效的使用方式。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5193792" cy="265176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95728"/>
            <a:ext cx="5193792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这场分享关注什么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43200"/>
            <a:ext cx="4800600" cy="2240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先建立 Claude Code 的最小必要架构模型。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再解释一次请求为什么会稳定、漂移或中断。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最后把结论落到产出、使用技巧和协作方式。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395728"/>
            <a:ext cx="5394960" cy="265176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2395728"/>
            <a:ext cx="539496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这场分享希望解决什么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743200"/>
            <a:ext cx="4956048" cy="2240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为什么同样是 Claude Code，有的人越用越顺，有的人越用越乱。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哪些任务最适合它，哪些任务要谨慎交给它。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怎样组织任务，才能让它稳定地产出工程结果。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303520"/>
            <a:ext cx="10881360" cy="768096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303520"/>
            <a:ext cx="1088136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FBBF24"/>
                </a:solidFill>
                <a:latin typeface="Arial"/>
              </a:rPr>
              <a:t>核心判断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5650992"/>
            <a:ext cx="10735056" cy="347471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Claude Code 不是自由聊天助手，而是一套 terminal agent runtime（终端代理运行时）；理解这一点，使用方式才会自然变稳。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这场分享真正要解决的问题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为什么同样是 Claude Code，有的人越用越顺，有的人越用越乱。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问题的关键不在“会不会用模型”，而在能不能顺着 Claude Code 的默认运行方式组织任务。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Claude Code 不是自由聊天助手，而是围绕工程任务设计的执行型系统。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输入方式、任务边界、验证要求和风险约束，都会直接影响输出质量。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如果只把它当聊天工具来用，就会频繁遇到范围漂移、验证不足和边界失控。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如果顺着它的工作链条组织任务，Claude Code 会更像一个稳定的工程协作体。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这场分享的主次关系是：源码理解做铺垫，重点落在产出、用法和协作方式。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相关实现：docs/zh/09-Claude Code 源码深度解读-文档.md / docs/zh/10-Claude Code 源码深度解读-分享提纲.md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先给结论：Claude Code 到底是什么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先建立一个足够准确的工程定义，后面所有技巧才有依托。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更像 terminal agent runtime（终端代理运行时），而不是普通聊天 CLI 或薄薄一层 API wrapper。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main.tsx 负责启动装配：配置、认证、插件、技能、MCP、命令和工具。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QueryEngine.ts 负责会话宿主：消息、usage、file state、transcript。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query.ts 负责轮次循环：上下文整理、模型采样、工具回灌、继续 / 重试 / 压缩。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toolExecution.ts 负责工具执行链：parse、validate、hooks、permissions、post-process。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export class QueryEngine {
  private mutableMessages: Message[]
}
type State = {
  messages: Message[]
  toolUseContext: ToolUseContext
  transition: Continue | undefined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装配、宿主、执行和控制面同时存在，才说明它更接近 runtime，而不是普通 CLI wrapper。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相关实现：src/main.tsx / src/QueryEngine.ts / src/query.ts / src/services/tools/toolExecution.ts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总体架构：Claude Code 的主执行链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先建立最小必要模型，再进入工作流程与使用技巧。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用户输入不是直接发给模型，而是先穿过会话宿主、轮次循环、工具执行链和控制面。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645920" cy="621792"/>
          </a:xfrm>
          <a:prstGeom prst="roundRect">
            <a:avLst/>
          </a:prstGeom>
          <a:solidFill>
            <a:srgbClr val="0A15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/>
            <a:r>
              <a:rPr sz="1600" b="1">
                <a:solidFill>
                  <a:srgbClr val="F2F7FF"/>
                </a:solidFill>
                <a:latin typeface="Arial"/>
              </a:rPr>
              <a:t>User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468880"/>
            <a:ext cx="1828800" cy="749808"/>
          </a:xfrm>
          <a:prstGeom prst="roundRect">
            <a:avLst/>
          </a:prstGeom>
          <a:solidFill>
            <a:srgbClr val="0A15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/>
            <a:r>
              <a:rPr sz="1600" b="1">
                <a:solidFill>
                  <a:srgbClr val="F2F7FF"/>
                </a:solidFill>
                <a:latin typeface="Arial"/>
              </a:rPr>
              <a:t>Prompt Stack</a:t>
            </a:r>
            <a:r>
              <a:rPr sz="1300" b="0">
                <a:solidFill>
                  <a:srgbClr val="38BDF8"/>
                </a:solidFill>
                <a:latin typeface="Arial"/>
              </a:rPr>
              <a:t>
提示词栈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414016"/>
            <a:ext cx="1828800" cy="822960"/>
          </a:xfrm>
          <a:prstGeom prst="roundRect">
            <a:avLst/>
          </a:prstGeom>
          <a:solidFill>
            <a:srgbClr val="0A152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/>
            <a:r>
              <a:rPr sz="1600" b="1">
                <a:solidFill>
                  <a:srgbClr val="F2F7FF"/>
                </a:solidFill>
                <a:latin typeface="Arial"/>
              </a:rPr>
              <a:t>QueryEngine</a:t>
            </a:r>
            <a:r>
              <a:rPr sz="1300" b="0">
                <a:solidFill>
                  <a:srgbClr val="A78BFA"/>
                </a:solidFill>
                <a:latin typeface="Arial"/>
              </a:rPr>
              <a:t>
会话宿主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2414016"/>
            <a:ext cx="1828800" cy="822960"/>
          </a:xfrm>
          <a:prstGeom prst="roundRect">
            <a:avLst/>
          </a:prstGeom>
          <a:solidFill>
            <a:srgbClr val="0A152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/>
            <a:r>
              <a:rPr sz="1600" b="1">
                <a:solidFill>
                  <a:srgbClr val="F2F7FF"/>
                </a:solidFill>
                <a:latin typeface="Arial"/>
              </a:rPr>
              <a:t>query.ts</a:t>
            </a:r>
            <a:r>
              <a:rPr sz="1300" b="0">
                <a:solidFill>
                  <a:srgbClr val="A78BFA"/>
                </a:solidFill>
                <a:latin typeface="Arial"/>
              </a:rPr>
              <a:t>
Turn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2288" y="2359152"/>
            <a:ext cx="2121408" cy="932688"/>
          </a:xfrm>
          <a:prstGeom prst="roundRect">
            <a:avLst/>
          </a:prstGeom>
          <a:solidFill>
            <a:srgbClr val="0A152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/>
            <a:r>
              <a:rPr sz="1600" b="1">
                <a:solidFill>
                  <a:srgbClr val="F2F7FF"/>
                </a:solidFill>
                <a:latin typeface="Arial"/>
              </a:rPr>
              <a:t>Tool Pipeline</a:t>
            </a:r>
            <a:r>
              <a:rPr sz="1300" b="0">
                <a:solidFill>
                  <a:srgbClr val="2DD4BF"/>
                </a:solidFill>
                <a:latin typeface="Arial"/>
              </a:rPr>
              <a:t>
工具执行流水线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779776"/>
            <a:ext cx="274320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80560" y="2779776"/>
            <a:ext cx="320040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29400" y="2779776"/>
            <a:ext cx="365760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2779776"/>
            <a:ext cx="338328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4069080"/>
            <a:ext cx="3063240" cy="914400"/>
          </a:xfrm>
          <a:prstGeom prst="roundRect">
            <a:avLst/>
          </a:prstGeom>
          <a:solidFill>
            <a:srgbClr val="0A152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500" b="1">
                <a:solidFill>
                  <a:srgbClr val="F2F7FF"/>
                </a:solidFill>
                <a:latin typeface="Arial"/>
              </a:rPr>
              <a:t>Tools / Tasks / MCP
执行环境与扩展能力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9646920" y="3310128"/>
            <a:ext cx="576072" cy="758952"/>
          </a:xfrm>
          <a:prstGeom prst="line">
            <a:avLst/>
          </a:prstGeom>
          <a:ln w="2032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8096" y="4005072"/>
            <a:ext cx="3246120" cy="987552"/>
          </a:xfrm>
          <a:prstGeom prst="roundRect">
            <a:avLst/>
          </a:prstGeom>
          <a:solidFill>
            <a:srgbClr val="0A152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500" b="1">
                <a:solidFill>
                  <a:srgbClr val="F2F7FF"/>
                </a:solidFill>
                <a:latin typeface="Arial"/>
              </a:rPr>
              <a:t>Settings / Auth / Policy / Prompt
控制面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4005072"/>
            <a:ext cx="3218688" cy="987552"/>
          </a:xfrm>
          <a:prstGeom prst="roundRect">
            <a:avLst/>
          </a:prstGeom>
          <a:solidFill>
            <a:srgbClr val="0A15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500" b="1">
                <a:solidFill>
                  <a:srgbClr val="F2F7FF"/>
                </a:solidFill>
                <a:latin typeface="Arial"/>
              </a:rPr>
              <a:t>Transcript / Recovery / Observability
续航与观测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285232" y="3246120"/>
            <a:ext cx="0" cy="758952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89520" y="3246120"/>
            <a:ext cx="0" cy="758952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架构图回答：用户输入为什么不会直接等于模型输出。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Claude Code 和 demo agent 的本质差别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理解它为什么像生产系统，决定了后面讲什么才有价值。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demo agent 的中心是“模型调工具”；Claude Code 的中心是“让一条执行轨迹在复杂条件下仍可持续”。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它显式处理恢复、压缩、权限链、多执行体、观测与诊断。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它不是只追求“能跑一次”，而是追求“在长任务里还能继续跑”。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对话、工具、任务、扩展和控制面共同围绕同一条主执行链工作。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真正稀缺的价值，不是功能多少，而是已经为长期工作付过工程账。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query.ts 的迁移分支、recovery、task framework 和 tool pipeline 一起说明它不属于 demo 形态。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相关实现：src/query.ts / src/utils/conversationRecovery.ts / src/services/tools/toolExecution.ts / src/utils/task/framework.ts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main.tsx、QueryEngine.ts、query.ts 的分工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这是理解 Claude Code 的三个核心入口。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一个管装配，一个管寿命，一个管推进；把它们混在一起，后面的逻辑就很难讲清。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main.tsx：把 settings、auth、plugins、skills、MCP、commands、tools 组装成可运行系统。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QueryEngine.ts：持有 mutableMessages、usage、readFileState 等会话状态。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query.ts：持有 turn state、toolUseContext、transition 等轮次推进状态。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这种分工决定了 Claude Code 更像“会话型 runtime”，不是一次性问答器。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export class QueryEngine {
  private mutableMessages: Message[]
  private totalUsage: NonNullableUsage
}
type State = {
  messages: Message[]
  turnCount: number
  transition: Continue | undefined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先把装配、宿主、执行三层拆开看，后面谈工作流程和使用技巧才会自然。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相关实现：src/main.tsx / src/QueryEngine.ts / src/query.ts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控制面为什么重要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的行为边界，不是只由模型决定。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settings、auth、policy limits、managed settings、prompt stack 共同构成控制面，持续裁决系统行为。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settings 决定功能开关、路径、模型选择和本地行为。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auth 决定身份来源和可调用后端。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policy limits 和 managed settings 决定组织级限制和远程托管行为。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system prompt / dynamic prompt sections 决定当前任务被怎样解释。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很多“为什么它这样做”的答案不在模型本身，而在控制面如何裁决这个 runtime。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相关实现：src/utils/settings/settings.ts / src/utils/auth.ts / src/services/policyLimits/index.ts / src/utils/systemPrompt.ts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为什么前面这几页必须先讲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源码理解不是目的，但没有这部分，后面的技巧就会沦为经验帖。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先建立系统分层和控制面模型，后面讲使用方式时，才能解释“为什么这样做更稳”。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总体架构回答：Claude Code 是什么。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主执行链回答：请求如何流过系统。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控制面回答：谁在裁决边界。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这些前提一旦成立，工作流程、产出形态和使用技巧都会顺势成立。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源码理解在这里的作用，是为使用方法提供结构支撑，而不是单独做代码炫技。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相关实现：src/main.tsx / src/QueryEngine.ts / src/query.ts / src/utils/systemPrompt.ts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第二部分：工作流程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理解一次请求如何推进，才能解释什么样的任务组织方式更有效。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工作流程是后面所有使用技巧的因果背景。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0607040" cy="324612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60704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本部分关注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97480"/>
            <a:ext cx="10149840" cy="278892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一次请求不是“用户说一句，模型回一句”。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它会先过装配和控制面，再进入 QueryEngine 和 turn loop。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主流程中还有工具执行链、压缩、恢复和长任务续航机制。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工作流程：一次请求如何流过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流程图的重点不是步骤数量，而是它为什么能够持续推进。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的强项不是一次回答，而是把请求变成一个可推进、可约束、可恢复的工作过程。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242316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12700" rIns="12700"/>
          <a:lstStyle/>
          <a:p>
            <a:pPr algn="ctr"/>
            <a:r>
              <a:rPr sz="1300" b="1">
                <a:solidFill>
                  <a:srgbClr val="030817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61872" y="2404872"/>
            <a:ext cx="1417320" cy="749808"/>
          </a:xfrm>
          <a:prstGeom prst="roundRect">
            <a:avLst/>
          </a:prstGeom>
          <a:solidFill>
            <a:srgbClr val="0A15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76200" rIns="76200"/>
          <a:lstStyle/>
          <a:p>
            <a:pPr algn="ctr"/>
            <a:r>
              <a:rPr sz="1350" b="1">
                <a:solidFill>
                  <a:srgbClr val="F2F7FF"/>
                </a:solidFill>
                <a:latin typeface="Arial"/>
              </a:rPr>
              <a:t>输入进入
CLI / REPL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242316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12700" rIns="12700"/>
          <a:lstStyle/>
          <a:p>
            <a:pPr algn="ctr"/>
            <a:r>
              <a:rPr sz="1300" b="1">
                <a:solidFill>
                  <a:srgbClr val="030817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404872"/>
            <a:ext cx="1417320" cy="749808"/>
          </a:xfrm>
          <a:prstGeom prst="roundRect">
            <a:avLst/>
          </a:prstGeom>
          <a:solidFill>
            <a:srgbClr val="0A15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76200" rIns="76200"/>
          <a:lstStyle/>
          <a:p>
            <a:pPr algn="ctr"/>
            <a:r>
              <a:rPr sz="1350" b="1">
                <a:solidFill>
                  <a:srgbClr val="F2F7FF"/>
                </a:solidFill>
                <a:latin typeface="Arial"/>
              </a:rPr>
              <a:t>组装 settings / auth /
tools / app state</a:t>
            </a:r>
          </a:p>
        </p:txBody>
      </p:sp>
      <p:sp>
        <p:nvSpPr>
          <p:cNvPr id="10" name="Oval 9"/>
          <p:cNvSpPr/>
          <p:nvPr/>
        </p:nvSpPr>
        <p:spPr>
          <a:xfrm>
            <a:off x="4983480" y="242316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12700" rIns="12700"/>
          <a:lstStyle/>
          <a:p>
            <a:pPr algn="ctr"/>
            <a:r>
              <a:rPr sz="1300" b="1">
                <a:solidFill>
                  <a:srgbClr val="030817"/>
                </a:solidFill>
                <a:latin typeface="Arial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404872"/>
            <a:ext cx="1417320" cy="749808"/>
          </a:xfrm>
          <a:prstGeom prst="roundRect">
            <a:avLst/>
          </a:prstGeom>
          <a:solidFill>
            <a:srgbClr val="0A152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76200" rIns="76200"/>
          <a:lstStyle/>
          <a:p>
            <a:pPr algn="ctr"/>
            <a:r>
              <a:rPr sz="1350" b="1">
                <a:solidFill>
                  <a:srgbClr val="F2F7FF"/>
                </a:solidFill>
                <a:latin typeface="Arial"/>
              </a:rPr>
              <a:t>进入 QueryEngine
构造会话状态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42316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12700" rIns="12700"/>
          <a:lstStyle/>
          <a:p>
            <a:pPr algn="ctr"/>
            <a:r>
              <a:rPr sz="1300" b="1">
                <a:solidFill>
                  <a:srgbClr val="030817"/>
                </a:solidFill>
                <a:latin typeface="Arial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404872"/>
            <a:ext cx="1417320" cy="749808"/>
          </a:xfrm>
          <a:prstGeom prst="roundRect">
            <a:avLst/>
          </a:prstGeom>
          <a:solidFill>
            <a:srgbClr val="0A15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76200" rIns="76200"/>
          <a:lstStyle/>
          <a:p>
            <a:pPr algn="ctr"/>
            <a:r>
              <a:rPr sz="1350" b="1">
                <a:solidFill>
                  <a:srgbClr val="F2F7FF"/>
                </a:solidFill>
                <a:latin typeface="Arial"/>
              </a:rPr>
              <a:t>query.ts
推进 turn loop</a:t>
            </a:r>
          </a:p>
        </p:txBody>
      </p:sp>
      <p:sp>
        <p:nvSpPr>
          <p:cNvPr id="14" name="Oval 13"/>
          <p:cNvSpPr/>
          <p:nvPr/>
        </p:nvSpPr>
        <p:spPr>
          <a:xfrm>
            <a:off x="9281160" y="242316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12700" rIns="12700"/>
          <a:lstStyle/>
          <a:p>
            <a:pPr algn="ctr"/>
            <a:r>
              <a:rPr sz="1300" b="1">
                <a:solidFill>
                  <a:srgbClr val="030817"/>
                </a:solidFill>
                <a:latin typeface="Arial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404872"/>
            <a:ext cx="1417320" cy="749808"/>
          </a:xfrm>
          <a:prstGeom prst="roundRect">
            <a:avLst/>
          </a:prstGeom>
          <a:solidFill>
            <a:srgbClr val="0A152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76200" rIns="76200"/>
          <a:lstStyle/>
          <a:p>
            <a:pPr algn="ctr"/>
            <a:r>
              <a:rPr sz="1350" b="1">
                <a:solidFill>
                  <a:srgbClr val="F2F7FF"/>
                </a:solidFill>
                <a:latin typeface="Arial"/>
              </a:rPr>
              <a:t>Tool Pipeline
执行工具链</a:t>
            </a:r>
          </a:p>
        </p:txBody>
      </p:sp>
      <p:sp>
        <p:nvSpPr>
          <p:cNvPr id="16" name="Oval 15"/>
          <p:cNvSpPr/>
          <p:nvPr/>
        </p:nvSpPr>
        <p:spPr>
          <a:xfrm>
            <a:off x="4983480" y="416052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12700" rIns="12700"/>
          <a:lstStyle/>
          <a:p>
            <a:pPr algn="ctr"/>
            <a:r>
              <a:rPr sz="1300" b="1">
                <a:solidFill>
                  <a:srgbClr val="030817"/>
                </a:solidFill>
                <a:latin typeface="Arial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142232"/>
            <a:ext cx="1920240" cy="749808"/>
          </a:xfrm>
          <a:prstGeom prst="roundRect">
            <a:avLst/>
          </a:prstGeom>
          <a:solidFill>
            <a:srgbClr val="0A152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76200" rIns="76200"/>
          <a:lstStyle/>
          <a:p>
            <a:pPr algn="ctr"/>
            <a:r>
              <a:rPr sz="1350" b="1">
                <a:solidFill>
                  <a:srgbClr val="F2F7FF"/>
                </a:solidFill>
                <a:latin typeface="Arial"/>
              </a:rPr>
              <a:t>结果回灌 /
继续 / compact / recovery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0048" y="2788920"/>
            <a:ext cx="118872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28032" y="2788920"/>
            <a:ext cx="155448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68312" y="2788920"/>
            <a:ext cx="155448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2788920"/>
            <a:ext cx="137160" cy="0"/>
          </a:xfrm>
          <a:prstGeom prst="line">
            <a:avLst/>
          </a:prstGeom>
          <a:ln w="203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360920" y="3154680"/>
            <a:ext cx="3566160" cy="1005840"/>
          </a:xfrm>
          <a:prstGeom prst="line">
            <a:avLst/>
          </a:prstGeom>
          <a:ln w="2032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89320" y="3172968"/>
            <a:ext cx="0" cy="987552"/>
          </a:xfrm>
          <a:prstGeom prst="line">
            <a:avLst/>
          </a:prstGeom>
          <a:ln w="2032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5349240"/>
            <a:ext cx="10698480" cy="71323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349240"/>
            <a:ext cx="1069848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2DD4BF"/>
                </a:solidFill>
                <a:latin typeface="Arial"/>
              </a:rPr>
              <a:t>代码理解支撑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696712"/>
            <a:ext cx="10552176" cy="29260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这条流程由 main.tsx、QueryEngine.ts、query.ts 和 toolExecution.ts 共同定义；它天然是一条多轮执行链，而不是一次性问答。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工作流程图回答：为什么 Claude Code 更像“推进器”，而不是“聊天器”。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一次请求从哪里开始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在模型真正被调用之前，Claude Code 已经做了不少事。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输入进入系统后，先过 settings、auth、policy 和工具装配，再真正进入会话与轮次推进。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CLI / REPL 接收请求后，会先确定环境、配置和身份。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main.tsx 会构造 tools、commands、app state 和扩展能力面。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只有这些前置条件成立，请求才会进入 QueryEngine 和 query.ts。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这解释了为什么同样一句话，在不同环境中可能有不同表现。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请求处理在模型调用前就已经开始，Claude Code 不是单纯的模型转发器。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相关实现：src/main.tsx / src/QueryEngine.ts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turn loop（轮次循环）的基本闭环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的强项不是“回答”，而是“推进”。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一轮 loop 的基本闭环是：当前 messages -&gt; context shaping -&gt; API request -&gt; assistant / tool_use -&gt; tool_result 回灌 -&gt; next turn。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当前 messages 只是起点，不是最终上下文。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系统会先做 context shaping，把 prompt、attachments、memory 和能力面整理出来。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模型返回 assistant message 或 tool_use 后，工具结果会回灌进消息链。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下一轮不是重新开始，而是在前一轮轨迹上继续推进。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type State = {
  messages: Message[]
  toolUseContext: ToolUseContext
  turnCount: number
  transition: Continue | undefined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query.ts 围绕 messages、tool context 和 transition 反复推进，因此 loop 是文件真实形态，而不是分析者措辞。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相关实现：src/query.ts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为什么它不是线性流水线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如果把 Claude Code 当普通工具调用链看，很多设计都会被误读。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更像 recovery graph（恢复图），而不是简单 pipeline。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主流程中途要处理 prompt_too_long、max_output_tokens、continuation、stop hook、reactive compact。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这些不是边角异常处理，而是主流程的一部分。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系统一直在维持一条可持续推进、可恢复、可压缩的执行轨迹。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这也是它比 demo agent 更像生产系统的原因之一。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continuation、compact 和 recovery 分支在 query.ts 里是正向路径的一部分，而不是附属脚本。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相关实现：src/query.ts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context shaping（上下文整理）是怎么发生的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模型每一轮看到的，不是静态聊天记录，而是动态构造出来的工作面。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会把 prompt stack、attachments、relevant memories、invoked skills 和 reminders 组合成当前轮上下文。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system prompt 自身就是可分层、可动态拼接的。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attachments 会按当前轮需求注入 memories、skill delta、task messages 和 reminders。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compact 之后，系统还会把必要的工作面信息重新带回来。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这解释了为什么同一会话中，不同轮次的“上下文视图”其实是变化的。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function getCriticalSystemReminderAttachment(...) {
  const reminder = toolUseContext.criticalSystemReminder_EXPERIMENTAL
  if (!reminder) return []
  return [{ type: 'critical_system_reminder', content: reminder }]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用户写 prompt，不是在给静态聊天机器人发消息，而是在参与当前轮工作面的构造。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相关实现：src/utils/systemPrompt.ts / src/utils/attachments.ts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tool pipeline（工具执行流水线）如何推进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工具调用不是直接 tool.call()，而是一条被审查、被约束、被记录的执行链。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tool pipeline 的重点不是把命令最快打出去，而是确保动作有边界、结果可回灌、状态可继续。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工具输入先过 schema parse 和 validate。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pre hooks、permissions、classifier 会在真正执行前介入。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执行后还有 post process 和结果回写。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因此用户把边界写清楚，会直接帮助这条执行链更稳定工作。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const parsedInput = tool.inputSchema.safeParse(input)
...
runPreToolUseHooks(...)
...
resolveHookPermissionDecision(...)
...
tool.call(...)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真正的自主边界位于 runtime 内部，而不是 UI 上一句“是否继续”。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相关实现：src/services/tools/toolExecution.ts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Transcript / Recovery / Compact 在流程里的位置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长期工作能力不是附属特性，而是这条工作流程的续航机制。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transcript 保存可恢复消息链，recovery 负责回到 API 可继续状态，compact 负责重建还能工作的最小 context。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transcript 不是普通聊天记录，而是带 parentUuid 的因果链。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recovery 会修 unresolved tool use、thinking block 和 continuation 状态。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compact 不只是摘要，而是保留 boundary、tail messages 和 attachments。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这三层一起，才解释了为什么 Claude Code 能做长任务和断点续做。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const filteredToolUses = filterUnresolvedToolUses(migratedMessages)
const filteredThinking =
  filterOrphanedThinkingOnlyMessages(filteredToolUses)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长期工作是底层显式目标，而不是幸运地“刚好能跑很久”。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相关实现：src/utils/sessionStorage.ts / src/utils/conversationRecovery.ts / src/services/compact/compact.ts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工作流程小结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理解工作流不是为了背模块，而是为了知道怎样组织任务更符合系统本性。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会把请求变成一个可推进、可约束、可恢复的工作过程；用户越顺着这套过程组织任务，结果越稳定。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一次请求天然是多轮的，不是一句输入对应一句输出。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工具链、压缩、恢复和观测都在主流程里，不是边角功能。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长期工作能力来自持续维护轨迹，而不是持续“记住所有细节”。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这也是后面讲产出和技巧时最重要的背景。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工作流程越清楚，越知道什么样的任务和提示方式会更有效。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相关实现：src/query.ts / src/services/tools/toolExecution.ts / src/utils/conversationRecovery.ts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第三部分：功能列表与产出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重点不在功能名本身，而在它们能产出什么工程结果。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功能列表只是索引，真正重要的是这些功能如何转化为稳定产出。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0607040" cy="324612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60704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本部分关注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97480"/>
            <a:ext cx="10149840" cy="278892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从用户视角，Claude Code 的价值应该用“产出形态”来衡量。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哪些任务适合它、哪些任务不适合它，都可以从运行时结构解释。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功能面和产出形态对应起来，后面的使用建议才不会空。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功能列表：从用户视角看 Claude Code 的能力面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能力多本身不重要，关键是它们能围绕主执行链协同。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的价值不在单个功能，而在交互、执行、扩展、控制、续航和观测能否围绕同一条主链协同。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95728"/>
            <a:ext cx="1874519" cy="169164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395728"/>
            <a:ext cx="1874519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61488"/>
            <a:ext cx="1691640" cy="128016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CLI / REPL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commands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Plan Mode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structured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2395728"/>
            <a:ext cx="1874519" cy="169164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9232" y="2395728"/>
            <a:ext cx="1874519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761488"/>
            <a:ext cx="1691640" cy="128016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Read / Edit / Bash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tool pipeline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validation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result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5232" y="2395728"/>
            <a:ext cx="1874519" cy="169164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85232" y="2395728"/>
            <a:ext cx="1874519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2DD4BF"/>
                </a:solidFill>
                <a:latin typeface="Arial"/>
              </a:rPr>
              <a:t>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761488"/>
            <a:ext cx="1691640" cy="128016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skills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MCP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plugins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remote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2395728"/>
            <a:ext cx="1874519" cy="169164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2395728"/>
            <a:ext cx="1874519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FBBF24"/>
                </a:solidFill>
                <a:latin typeface="Arial"/>
              </a:rPr>
              <a:t>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1" y="2761488"/>
            <a:ext cx="1691640" cy="128016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settings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auth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policy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prompt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57232" y="2395728"/>
            <a:ext cx="1874519" cy="169164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57232" y="2395728"/>
            <a:ext cx="1874519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续航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8672" y="2761488"/>
            <a:ext cx="1691640" cy="128016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transcript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compact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recovery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task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4617720"/>
            <a:ext cx="1874519" cy="169164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53712" y="4617720"/>
            <a:ext cx="1874519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可观测性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983480"/>
            <a:ext cx="1691640" cy="128016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query profiler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cache break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analyze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功能列表的重点：它最适合产出什么结果，以及哪些能力会直接影响使用方式。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从用户视角看，Claude Code 最典型的产出是什么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如果只把它理解成“会回答问题”，就会低估它的真正价值。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最擅长的不是聊天答案，而是工程结果：代码、解释、验证、计划、结构化结论和工作卡。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代码修改：局部修复、局部重构、多文件联动更新。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代码解释与定位：帮你形成“问题在哪、为什么在这里”的结论。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命令执行与验证：把改动、日志、测试和结论串起来。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计划与任务拆解：先探索，再计划，再推进实现。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结构化输出：把最终结果沉淀成更可消费的形式。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commands、Edit/Read/Bash、Plan Mode 和 structured output 一起说明：它默认就是围绕工程结果设计的。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相关实现：src/commands.ts / src/Tool.ts / src/utils/messages.ts / src/QueryEngine.ts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哪些任务特别适合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判断一项任务是否适合它，关键看是否贴合它的主能力链。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越像“需要读代码、调工具、形成结果、可分阶段推进”的任务，Claude Code 越容易发挥。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局部修复和局部重构：边界清楚，适合最小改动和验证。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多文件追踪与定位：天然需要读代码、做关联、形成解释。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命令执行与验证：适合把改动和测试结论串在一起。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需要拆阶段推进的任务：适合 Plan Mode、tasks 和 recovery。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这些任务之所以适合，是因为它们天然贴合 prompt stack、tool pipeline、task runtime 和 recovery 的优势区间。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相关实现：src/query.ts / src/services/tools/toolExecution.ts / src/utils/messages.ts / src/utils/task/framework.ts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哪些任务不适合用 Claude Code 直接硬做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不是不能做难任务，而是难任务更需要结构化边界。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目标极度模糊、范围完全不受限、输出形式没有约束、需要它自行理解隐含边界的任务，会明显放大不稳定性。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完全模糊的探索：系统缺少稳定工作面。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范围极大的全局变更：compact 和 recovery 代价会快速上升。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高风险但没有确认规则的动作：permission chain 会变得脆弱。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高度依赖隐性业务背景的任务：prompt stack 很难替用户补齐这些边界。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模糊任务不是“模型太弱”，而是 prompt stack、tool pipeline 和权限链都更容易进入不稳定状态。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src/services/tools/toolExecution.ts / src/utils/permissions/permissions.ts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为什么它能稳定地产出这些结果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稳定产出不是模型自行收敛出来的，而是由多条运行时链路共同支持的。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默认角色、工具执行链、续航链和任务链一起存在，决定了 Claude Code 更容易产出“工作结果”，而不是发散回答。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默认角色是工程代理，天然倾向于处理软件工程任务。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工具执行受约束，动作先被审查再被执行。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结果可以进入 transcript / compact / recovery，任务不会轻易断掉。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plan、task、memory 让复杂工作具备多阶段推进能力。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The user will primarily request you to perform software engineering tasks.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稳定产出来自运行时结构，不只是模型强；这也是为什么用法会直接影响结果质量。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src/services/tools/toolExecution.ts / src/utils/sessionStorage.ts / src/utils/messages.ts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用户视角功能小结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先理解产出形态，再谈技巧，效果会更稳。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最适合推进工程任务，特别适合产出“代码 + 解释 + 验证 + 计划”；它不适合完全模糊、完全无边界的自由发挥。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功能多本身不重要，关键是它们能否协同产出工程结果。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适合的任务天然贴合它的主执行链。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不适合的任务通常意味着边界不清、风险不明或工作面不可控。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下一部分开始逐个讲最重要的功能，以及这些功能对应的使用技巧。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从这里往后，重点不再是“它有什么功能”，而是“这些功能为什么会导出某种更优的使用方式”。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相关实现：src/commands.ts / src/services/tools/toolExecution.ts / src/utils/messages.ts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第四部分：重要功能详细介绍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讲实现原理的目的，是推出更有效的使用方式，而不是单独炫耀代码。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真正有价值的功能，不是功能名，而是它背后的运行时含义。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0607040" cy="324612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60704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本部分关注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97480"/>
            <a:ext cx="10149840" cy="278892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每个重点功能都会回答三件事：它是什么、它如何工作、用户应该如何顺着它来用。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所有使用技巧都必须能回到代码机制，而不是停在经验层面。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重点功能讲清以后，后面的流程建议才会足够稳。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Prompt Stack（提示词栈）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默认角色如何被定义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system prompt、agent prompt、dynamic sections 共同定义 Claude Code 的默认角色和行为边界。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default prompt 定义用户请求首先是 software engineering tasks。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systemPrompt.ts 负责拼接 override、coordinator、agent 和 dynamic sections。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prompt stack 决定了 Claude Code 更喜欢工程化表达，而不是闲聊式表达。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因此任务越像工程任务，越能触发系统默认最佳状态。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The user will primarily request you to perform software engineering tasks.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默认 system prompt 直接把用户请求定义成工程任务，所以“任务表达越工程化越稳”不是经验，而是系统角色设定的直接结果。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相关实现：src/utils/systemPrompt.ts / src/constants/prompts.ts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QueryEngine（会话宿主）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为什么像会话型系统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QueryEngine 持有 mutableMessages、usage、file state 和 transcript 相关状态，因此它像 conversation host，而不是一次性 API wrapper。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它负责一整段会话怎么活，而不只是一次模型调用。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它会在进入 query.ts 前先装配 processUserInput context。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它也是 SDK / headless 输出的收口层。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这说明 Claude Code 的核心不是“问一次”，而是“让一段会话持续存在”。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export class QueryEngine {
  private mutableMessages: Message[]
  private totalUsage: NonNullableUsage
  private readFileState: FileStateCache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持久化消息、usage 聚合和 transcript 预落盘都发生在 QueryEngine 这一层，因此它更像会话宿主。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相关实现：src/QueryEngine.ts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Turn Loop（轮次循环）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为什么擅长推进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query.ts 保存的是跨轮迁移状态，不只是消息列表，因此它天然适合可继续推进的任务。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State 里不仅有 messages，还有 toolUseContext、pending summary、stopHookActive 和 transition。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每一轮都会重新整理上下文、发起采样、执行工具并继续推进。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它的强项不是一次性回答，而是围绕执行轨迹持续前进。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因此大任务要拆阶段，小任务也要给清楚边界。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type State = {
  messages: Message[]
  toolUseContext: ToolUseContext
  turnCount: number
  transition: Continue | undefined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State 结构说明它维护的是 runtime 状态图，而不是静态消息数组。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相关实现：src/query.ts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Tool Pipeline（工具执行流水线）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为什么工具调用不是直接执行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schema parse -&gt; validate -&gt; hooks -&gt; permissions -&gt; call -&gt; post process，这条链定义了 Claude Code 的真实自主边界。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执行不是直接 tool.call()，而是先被解析、审查和裁决。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hooks 和 permissions 不是附属物，而是执行链的一部分。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tool result 会被标准化并回灌到主轨迹。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所以用户把边界写清楚，会直接帮助这条执行链更稳定。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const parsedInput = tool.inputSchema.safeParse(input)
...
runPreToolUseHooks(...)
...
resolveHookPermissionDecision(...)
...
tool.call(...)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真正的“是否代表用户行动”发生在工具执行链内部，而不是在 UI 里口头提醒。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相关实现：src/services/tools/toolExecution.ts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BashTool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最强能力为什么也最需要边界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BashTool 提供最强执行能力，但周围专门拆出了 sandbox、只读识别、路径校验和破坏性判断等安全层。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Bash 在系统里不是默认首选，而是高能力、高风险通道。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它会单独处理路径合法性、只读命令和破坏性命令。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长输出还会触发额外的结果治理。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 Bash 更适合做兜底，而不是默认第一选择。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安全子模块的存在本身就说明 BashTool 被系统视为高风险能力，而不是普通执行路径。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相关实现：src/tools/BashTool/BashTool.tsx / src/tools/BashTool/prompt.ts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Compact（上下文压缩）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长会话为什么不会直接拖垮系统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compact 保留的不只是 summary，还有 boundary、tail messages 和 attachments，因此它在重建工作面，而不是简单做摘要。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microcompact、autocompact 和 reactive compact 共同存在。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compact 之后，系统仍然要保住必要的工作面信息。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用户不能假设模型会永久持有所有历史细节。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更稳的方式是要求阶段性产出，而不是指望全量记忆。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compact 的目标是重建可工作 context，而不是把历史压成一段漂亮摘要。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相关实现：src/services/compact/compact.ts / src/services/compact/microCompact.ts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Transcript / Recovery（会话记录 / 恢复）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为什么长任务和断点续做是它的强项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recovery 会主动修 unresolved tool use、thinking、continuation 等状态，这种深度说明“继续工作”是底层能力。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transcript 保存的是可恢复消息链。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recovery 会主动过滤和修补不合法状态。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synthetic continuation 等机制直接服务于恢复。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这使得 Claude Code 适合长任务和断点续做。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const filteredToolUses = filterUnresolvedToolUses(migratedMessages)
const filteredThinking =
  filterOrphanedThinkingOnlyMessages(filteredToolUses)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如果 transcript 只是聊天记录，这些修补逻辑没有必要；正因为它是 runtime 状态载体，这些逻辑才成立。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相关实现：src/utils/sessionStorage.ts / src/utils/conversationRecovery.ts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Content Replacement（内容替换）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大工具输出为什么不会直接把上下文拖垮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系统用 ContentReplacementState 维护 seenIds 和 replacements，说明它在保护“看过的前缀不能漂”。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大结果会落盘，只把稳定 preview 留在上下文里。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同一个 tool_use_id 的 replacement 一旦确定，后面不能随便变。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resume 后还要重放 replacement。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因此用户更应该关注结果和结论，而不是要求模型永远记住全部大输出。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export type ContentReplacementState = {
  seenIds: Set&lt;string&gt;
  replacements: Map&lt;string, string&gt;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这层设计说明 Claude Code 把 prompt cache prefix stability 当成一等约束。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相关实现：src/utils/toolResultStorage.ts / src/services/compact/microCompact.ts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Skills（技能）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为什么 skill 不是一段快捷短语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skills 会按路径、上下文和 compact 结果激活与保留，因此它们更像 capability artifact，而不是静态 prompt 模板。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skills 不是简单的“快捷指令”。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它们会参与能力面暴露和当前轮上下文构造。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compact 后 invoked skills 仍会被保留。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这意味着 skill 更适合有明显任务边界的场景。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只要一个能力对象会被按路径和上下文激活，它就已经不再只是文本模板。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相关实现：src/utils/skills/loadSkillsDir.ts / src/utils/attachments.ts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Attachments（上下文附件）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为什么 Claude Code 不是只看聊天记录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attachments 逐轮注入 memories、skill delta、task messages 和 reminders，说明上下文是逐轮构造的工作面。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当前轮上下文来自聊天记录、prompt stack 和 attachments 的共同作用。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attachments 负责把额外但关键的信息带回工作面。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这也是 Claude Code 能维持复杂任务连续性的原因之一。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因此用户组织任务的方式，会直接影响模型看到什么。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如果把 Claude Code 当成只看消息历史的聊天机器人，就会误解很多行为。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相关实现：src/utils/attachments.ts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Permissions / Hooks /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真正的自主边界在哪里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permissions、hooks 和 classifier 都位于工具执行链中，因此真正的自主边界在 runtime 内部，而不是外部口头约束。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allow / ask / deny 规则会在执行链里生效。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pre/post hooks 可以在真正执行前后插入行为。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classifier 会参与某些自动模式下的裁决。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这解释了为什么模糊授权会显著放大不确定性。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系统内部对风险动作是单独建模的，因此用户也必须把确认规则显式写出来。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相关实现：src/services/tools/toolExecution.ts / src/utils/permissions/permissions.ts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Tasks / Subagents / Mailbox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为什么 Claude Code 适合持续推进而不只是一次性答复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task registry、agent metadata、mailbox 和 sidechain transcript 同时存在，说明它已经有多执行体 runtime 的雏形。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复杂任务可以拆阶段、拆子任务，而不是硬塞成一次答复。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task runtime 让异步执行体具备生命周期。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subagent 和 mailbox 让协作语义开始形成。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 Claude Code 更像工作推进器，而不是单轮聊天器。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任务系统的存在，直接扩大了它适合承担的任务形态。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相关实现：src/Task.ts / src/utils/task/framework.ts / src/tools/AgentTool/runAgent.ts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MCP / Plugins / Remote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的上限为什么不只取决于模型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MCP、plugins 和 remote capability 各有接入点，说明扩展能力在系统里是一级设计目标。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Claude Code 的能力面可以通过 MCP 和插件持续扩展。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这意味着“能不能接入合适工具”会直接影响它的上限。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remote capability 进一步把它从本地代理推向能力枢纽。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因此使用时要一起看模型能力和可接入能力面。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扩展能力不是附属物，而是系统原生设计目标；这解释了为什么 Claude Code 的价值常常来自“模型 + 工具面”。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相关实现：src/services/mcp/client.ts / src/utils/plugins/pluginLoader.ts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Observability（可观测性）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为什么它更像生产系统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query profiler、cache break detection 和 analyzeContext 让系统不只会跑，还能解释自己为什么这样跑。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性能、上下文成本和缓存命中都不是黑盒。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可观测性让团队能诊断慢在哪、贵在哪、坏在哪。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这对于长任务和复杂工具链尤其重要。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对使用者来说，意味着系统行为更可解释。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没有可观测性，就没有可演化的 harness；这也是它和 demo 代码的明显差别。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相关实现：src/utils/queryProfiler.ts / src/services/api/promptCacheBreakDetection.ts / src/utils/analyzeContext.ts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重要功能小结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真正的“使用技巧”，必须回到运行时机制上理解。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Prompt Stack、Turn Loop、Tool Pipeline、Compact、Recovery 和 Tasks 一起决定了系统如何继续工作，也决定了用户应该怎样更稳地使用它。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源码解释了为什么工程化表达更稳、为什么边界要写清、为什么长任务要分阶段。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真正的技巧不是“给它几句神奇提示词”，而是顺着 runtime 的工作方式组织任务。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功能细节讲得越清楚，后面的流程建议就越不容易空。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从这里开始，重点转向把机制翻译成协作方式。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所有高质量技巧的共同点，都是顺着运行时机制，而不是对抗它。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src/query.ts / src/services/tools/toolExecution.ts / src/utils/task/framework.ts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第五部分：开发流程与协作建议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不是泛泛给建议，而是从源码约束倒推出更稳的协作方式。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源码理解到这里，应该被翻译成一套更有效的协作方式。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0607040" cy="3246120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60704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本部分关注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97480"/>
            <a:ext cx="10149840" cy="278892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任务怎么写、边界怎么定、验证怎么要求，都会直接影响 Claude Code 的表现。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这些建议不是经验帖，而是前面运行时机制的直接推论。</a:t>
            </a: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DCE4F2"/>
                </a:solidFill>
                <a:latin typeface="Arial"/>
              </a:rPr>
              <a:t>重点不在“如何让它更聪明”，而在“如何让它更稳定地产出工程结果”。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为什么最后要单独讲“开发流程与协作建议”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前面讲的是机制，这里讲的是怎样顺着机制组织工作。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这一部分不是经验汇总，而是把 Prompt Stack、Tool Pipeline、Recovery 和 Task Runtime 的约束翻译成团队可执行的工作流。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如果停在架构和功能，听众很难把这些理解转化为日常使用方式。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真正有价值的是：怎样写任务、怎样设边界、怎样做验证、怎样组织长任务。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源码理解的最终落点，应该是更稳的协作实践。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因此这部分是全场的落地收束，而不是附录。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Report outcomes faithfully...
Carefully consider the reversibility and blast radius of actions.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前面的运行时机制越清楚，这里的建议越不是“拍脑袋”。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src/services/tools/toolExecution.ts / src/utils/task/framework.ts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建议一：把任务组织成工程任务，而不是聊天请求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工程化任务表达，是 Claude Code 最自然的输入形式。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任务至少应该写出目标、范围、约束和验证；这不是格式洁癖，而是顺着 Prompt Stack 的默认角色来组织输入。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目标定义它要完成什么。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范围限制它改到哪里为止。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约束决定它不能顺手做什么。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验证决定这次工作如何收口。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The user will primarily request you to perform software engineering tasks.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默认 system prompt 直接把用户请求定义成 software engineering tasks，因此任务越工程化，系统越接近默认最佳状态。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建议二：先读代码，再改代码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显式要求先读关键文件，可以明显减少无关探索和错误改动。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如果任务涉及真实代码库，就应该先要求它看关键文件、关键函数和现有实现，再决定怎么改。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这能降低没读就改、误解上下文和乱造新层的概率。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对多文件任务尤其重要。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关键文件点名越清楚，Claude Code 越容易快速进入正确工作面。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这不是额外约束，而是它的默认偏好。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In general, do not propose changes to code you haven't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“先读再改”已经写在提示词和 Plan Mode 工作流里，所以显式写出来会更稳。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src/utils/messages.ts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建议三：最小改动，优先复用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更适合在边界清楚时做局部、高质量推进。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明确要求最小必要改动、优先复用现有函数和模式，可以明显抑制顺手重构与过早抽象。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这对局部修复、小功能和短周期改动尤其重要。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系统默认就反对一锤子抽象和无边界优化。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如果用户不写清楚，它容易把“顺便优化”当成合理延伸。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越是成熟项目，越应该显式写这一层。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Don't create helpers, utilities, or abstractions for one-time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最小改动和复用现有模式，是顺着默认 prompt 和搜索工作流在走。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src/utils/messages.ts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建议四：专用工具优先，Bash 后置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可审查、可约束的执行路径，通常比自由 shell 更稳。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Claude Code 并不是鼓励你默认走 shell；相反，它更偏好 Read、Edit、Glob、Grep 这类 dedicated tools。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专用工具更容易被 runtime 审查和记录。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Bash 更强，但也更高风险。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复杂执行需求可以把 Bash 留作兜底，而不是默认入口。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对团队协作场景尤其如此。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Do NOT use the Bash tool when a relevant dedicated tool is provided.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tool pipeline 和 BashTool 的安全层都说明：系统更偏好可审查的执行路径。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src/tools/BashTool/prompt.ts / src/tools/BashTool/BashTool.tsx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建议五：验证要单独要求，而且结果要如实汇报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验证不是默认一定会发生，验证结果也不应该靠猜。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如果任务需要改代码，就应该单独写出要跑什么验证、结果如何汇报、没跑时也要明确说明。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这能显著减少“看起来完成了，其实没有真正验证”的情况。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验证方式越具体，Claude Code 越容易形成闭环。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对长任务尤其重要，因为它让每个阶段都能有收口点。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“如实汇报”是默认 prompt 已经明确写出的规则。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Report outcomes faithfully...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用户把验证要求显式写出来，其实是在主动利用系统已有的结果约束。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建议六：高风险动作一定要把确认规则写清楚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边界越模糊，权限链就越容易放大不确定性。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涉及删除、覆盖、push、外发、破坏性 git 操作时，最好单独写明确认方式和允许范围。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这不是过度谨慎，而是顺着 tool pipeline 和 permission chain 的工作方式。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对高风险动作，Claude Code 天然会更保守。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如果用户把授权写得含糊，系统和使用者都会处在不稳状态。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最好把确认触发条件写成明确规则。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Carefully consider the reversibility and blast radius of actions.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高风险动作在系统内部是单独对待的，所以用户也必须把这条边界显式表达。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src/tools/BashTool/prompt.ts / src/utils/permissions/permissions.ts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建议七：复杂任务先走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先探索、再计划、后实现，比直接开干更稳。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Plan Mode 的价值在于先快速扫关键文件、形成计划，再问缺失信息或进入执行。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对多模块任务、改动范围不确定的任务尤其适合。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它能帮助系统先建立正确工作面，再开始改。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也能降低一开始就误判方向的概率。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Plan Mode 本身已经把这个节奏做成显式流程。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Start by quickly scanning a few key files.
Update the plan.
Ask the user only about information the code cannot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复杂任务之所以更适合 Plan Mode，不是经验，而是系统里已经存在这条 workflow。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相关实现：src/utils/messages.ts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建议八：独立查询允许并行，长任务允许分阶段推进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Claude Code 天生适合把复杂工作拆成可并行、可阶段收口的部分。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独立查询可以显式允许 parallel，长任务则更适合拆阶段、拆子任务和阶段性收口。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并行适合读代码、搜文件、比对多处实现。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分阶段适合长任务、复杂任务和需要多轮验证的任务。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这会明显提高输出稳定性，也降低上下文失控。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task runtime 的存在，本来就在支持这种组织方式。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If there are no dependencies between them, make all independent tool calls in parallel.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并行工具调用和 task runtime 都是系统一级能力，所以任务节奏设计会直接影响 Claude Code 的发挥。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相关实现：src/utils/messages.ts / src/utils/task/framework.ts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建议九：哪些任务最适合直接交给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不是所有任务都适合直接交给它；挑对任务，效果会明显不同。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最适合的是局部修复、代码理解与定位、需要命令验证的任务，以及可分阶段推进的工程任务。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这类任务既需要工具，又需要解释和验证。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它们边界相对清楚，容易形成阶段性结果。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也更容易让 Claude Code 的主执行链稳定工作。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从团队角度看，这类任务最容易形成可复查产出。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type State = {
  messages: Message[]
  toolUseContext: ToolUseContext
  turnCount: number
  transition: Continue | undefined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这些任务正好贴合 prompt stack、tool pipeline、task runtime 和 recovery 的优势区间。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相关实现：src/query.ts / src/services/tools/toolExecution.ts / src/utils/task/framework.ts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建议十：哪些任务要谨慎交给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越依赖隐性边界和模糊背景的任务，越需要先结构化。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完全模糊的探索、范围极大的全局改动、高风险但边界不清的动作，都不适合直接硬交给 Claude Code。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它不是不能做，而是这类任务更容易让工作面漂移。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此时最好的办法通常不是强行让它“自己想明白”。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而是先补边界、先拆任务、先确认风险。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这样才能把任务重新拉回 Claude Code 的优势区间。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Don't add features, refactor code, or make improvements beyond what was explicitly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不适合直接硬做，不是因为模型弱，而是因为 runtime 对这些任务的稳定工作面本来就更难建立。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相关实现：src/constants/prompts.ts / src/services/tools/toolExecution.ts / src/utils/permissions/permissions.ts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团队协作时，应该把 Claude Code 当成什么角色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从团队视角看，Claude Code 更像协作型工程执行体，而不是聊天机器人。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它最适合承担工程代理、多阶段任务推进器、带工具的验证者，以及文档、代码、验证结果的联合产出器。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它能同时做阅读、执行、验证和阶段性结论。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它适合在明确边界下持续推进。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它也适合做带证据链的中间产出。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这比“让它回答问题”更接近它的真实强项。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1554480"/>
          </a:xfrm>
          <a:prstGeom prst="roundRect">
            <a:avLst/>
          </a:prstGeom>
          <a:solidFill>
            <a:srgbClr val="04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90500" bIns="76200" lIns="127000" rIns="127000"/>
          <a:lstStyle/>
          <a:p>
            <a:pPr algn="ctr"/>
            <a:r>
              <a:rPr sz="1150" b="0">
                <a:solidFill>
                  <a:srgbClr val="BBF7FF"/>
                </a:solidFill>
                <a:latin typeface="Courier New"/>
              </a:rPr>
              <a:t>You are running as an agent in a team.
Use the SendMessage tool.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256032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4059936"/>
            <a:ext cx="4389120" cy="1938528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0608" y="4059936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这段代码说明什么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07408"/>
            <a:ext cx="4242816" cy="151790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CE4F2"/>
                </a:solidFill>
                <a:latin typeface="Arial"/>
              </a:rPr>
              <a:t>commands、Plan Mode、task runtime、structured output 和 tool pipeline 都说明它更适合作为协作型工程执行体。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相关实现：src/commands.ts / src/utils/messages.ts / src/utils/task/framework.ts / src/QueryEngine.ts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10896"/>
            <a:ext cx="10972800" cy="658368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2600" b="1">
                <a:solidFill>
                  <a:srgbClr val="F2F7FF"/>
                </a:solidFill>
                <a:latin typeface="Arial"/>
              </a:rPr>
              <a:t>总结：怎样把源码理解真正转化成更好的使用方式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0789920" cy="347472"/>
          </a:xfrm>
          <a:prstGeom prst="rect">
            <a:avLst/>
          </a:prstGeom>
          <a:noFill/>
        </p:spPr>
        <p:txBody>
          <a:bodyPr wrap="square" tIns="12700" bIns="12700" lIns="25400" rIns="25400" anchor="t">
            <a:spAutoFit/>
          </a:bodyPr>
          <a:lstStyle/>
          <a:p>
            <a:r>
              <a:rPr sz="1300" b="0">
                <a:solidFill>
                  <a:srgbClr val="90A2BC"/>
                </a:solidFill>
                <a:latin typeface="Arial"/>
              </a:rPr>
              <a:t>所有高质量技巧的共同点，不是“更会写 prompt”，而是“更顺着系统工作方式组织任务”。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22402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0991088" cy="658368"/>
          </a:xfrm>
          <a:prstGeom prst="roundRect">
            <a:avLst/>
          </a:prstGeom>
          <a:solidFill>
            <a:srgbClr val="07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27000" rIns="127000"/>
          <a:lstStyle/>
          <a:p>
            <a:pPr algn="ctr"/>
            <a:r>
              <a:rPr sz="1800" b="1">
                <a:solidFill>
                  <a:srgbClr val="F2F7FF"/>
                </a:solidFill>
                <a:latin typeface="Arial"/>
              </a:rPr>
              <a:t>先用少量源码理解建立正确模型，再把重心放到产出、使用方式和任务组织上，才是更高价值的 Claude Code 使用方式。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59152"/>
            <a:ext cx="640080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640080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06624"/>
            <a:ext cx="6126480" cy="3255264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先建立最小必要架构模型。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再理解一次请求如何流过系统。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再根据产出形态挑任务、定边界、设验证。</a:t>
            </a:r>
          </a:p>
          <a:p>
            <a:pPr>
              <a:spcAft>
                <a:spcPts val="700"/>
              </a:spcAft>
            </a:pPr>
            <a:r>
              <a:rPr sz="1650" b="0">
                <a:solidFill>
                  <a:srgbClr val="DCE4F2"/>
                </a:solidFill>
                <a:latin typeface="Arial"/>
              </a:rPr>
              <a:t>最后把建议落成团队协作方式。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359152"/>
            <a:ext cx="4389120" cy="3639312"/>
          </a:xfrm>
          <a:prstGeom prst="roundRect">
            <a:avLst/>
          </a:prstGeom>
          <a:solidFill>
            <a:srgbClr val="0A152B"/>
          </a:solidFill>
          <a:ln>
            <a:solidFill>
              <a:srgbClr val="203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0608" y="2359152"/>
            <a:ext cx="4389120" cy="310896"/>
          </a:xfrm>
          <a:prstGeom prst="rect">
            <a:avLst/>
          </a:prstGeom>
          <a:solidFill>
            <a:srgbClr val="0C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63500" rIns="635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实践含义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06624"/>
            <a:ext cx="4078224" cy="32004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DCE4F2"/>
                </a:solidFill>
                <a:latin typeface="Arial"/>
              </a:rPr>
              <a:t>真正有效的技巧，都可以回到运行时机制解释；这也是这场分享和经验贴的区别。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50" b="0">
                <a:solidFill>
                  <a:srgbClr val="90A2BC"/>
                </a:solidFill>
                <a:latin typeface="Arial"/>
              </a:rPr>
              <a:t>Claude Code 源码深度解读</a:t>
            </a:r>
          </a:p>
          <a:p>
            <a:pPr algn="r"/>
            <a:r>
              <a:rPr sz="1050" b="0">
                <a:solidFill>
                  <a:srgbClr val="90A2BC"/>
                </a:solidFill>
                <a:latin typeface="Arial"/>
              </a:rPr>
              <a:t>相关实现：docs/zh/09-Claude Code 源码深度解读-文档.md / docs/zh/10-Claude Code 源码深度解读-分享提纲.md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