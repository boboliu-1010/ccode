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284" r:id="rId35"/>
    <p:sldId id="285" r:id="rId36"/>
    <p:sldId id="286" r:id="rId3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71023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源码调研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总体架构、工作流程、功能设计、产出形态与开发流程建议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72768"/>
            <a:ext cx="10972800" cy="804672"/>
          </a:xfrm>
          <a:prstGeom prst="roundRect">
            <a:avLst/>
          </a:prstGeom>
          <a:solidFill>
            <a:srgbClr val="081834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52400" rIns="152400"/>
          <a:lstStyle/>
          <a:p>
            <a:pPr algn="ctr"/>
            <a:r>
              <a:rPr sz="1900" b="1">
                <a:solidFill>
                  <a:srgbClr val="F5F8FF"/>
                </a:solidFill>
                <a:latin typeface="Arial"/>
              </a:rPr>
              <a:t>通过足够的源码理解，帮助用户和团队更好地使用 Claude Code。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58368" y="2697480"/>
            <a:ext cx="5230368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ectangle 6"/>
          <p:cNvSpPr/>
          <p:nvPr/>
        </p:nvSpPr>
        <p:spPr>
          <a:xfrm>
            <a:off x="658368" y="2697480"/>
            <a:ext cx="523036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调研目标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68680" y="3035808"/>
            <a:ext cx="4773168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为什么它更适合工程任务，而不是自由聊天式请求。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怎样组织任务、边界和验证，才能让它稳定地产出结果。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63056" y="2697480"/>
            <a:ext cx="5358384" cy="2286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ectangle 9"/>
          <p:cNvSpPr/>
          <p:nvPr/>
        </p:nvSpPr>
        <p:spPr>
          <a:xfrm>
            <a:off x="6163056" y="2697480"/>
            <a:ext cx="5358384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调研范围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73368" y="3035808"/>
            <a:ext cx="4882896" cy="182880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先用源码建立最小必要架构模型。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再讲工作流程、功能和典型产出。</a:t>
            </a:r>
          </a:p>
          <a:p>
            <a:pPr>
              <a:spcAft>
                <a:spcPts val="500"/>
              </a:spcAft>
            </a:pPr>
            <a:r>
              <a:rPr sz="1650" b="0">
                <a:solidFill>
                  <a:srgbClr val="DEE6F4"/>
                </a:solidFill>
                <a:latin typeface="Arial"/>
              </a:rPr>
              <a:t>最后把结论落到开发流程建议与代码走读入口。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58368" y="5321808"/>
            <a:ext cx="10863072" cy="822960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658368" y="5321808"/>
            <a:ext cx="10863072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50392" y="5641848"/>
            <a:ext cx="10469880" cy="3200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700" b="0">
                <a:solidFill>
                  <a:srgbClr val="DEE6F4"/>
                </a:solidFill>
                <a:latin typeface="Arial"/>
              </a:rPr>
              <a:t>Claude Code 不是自由聊天助手，而是一套围绕工程任务构建的 terminal agent runtime（终端代理运行时）。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封面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这次调研真正要解决的问题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为什么同样是 Claude Code，有的人越用越顺，有的人越用越乱。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不是自由聊天助手。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它更像一套 terminal agent runtime（终端代理运行时）。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输入方式、任务组织方式、边界表达方式，都会直接影响它的输出质量。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所以后面不会把重点放在“源码多复杂”，而会放在“什么理解能转化成更好的使用方式”。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从默认 prompt 开始，Claude Code 就已经把用户任务当作软件工程任务来理解，因此用法是否贴合这个前提，会直接影响表现。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本次调研不追求覆盖全部源码，而是提炼到足够指导使用的理解。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先给结论：Claude Code 到底是什么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从工程上应该怎么理解。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它不是普通聊天 CLI。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它更像由下面几层组成的 runtime：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main.tsx：启动装配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QueryEngine.ts：会话宿主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query.ts：轮次循环 / 运行时内核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toolExecution.ts：工具执行流水线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 / auth / policy / prompt：控制面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}
type State = {
  messages: Message[]
  toolUseContext: ToolUseContext
  transition: Continue | undefined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只有当装配、宿主、执行和控制面同时存在时，才更接近 runtime，而不是普通 CLI wrapper。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的使用方式，必须贴合它的运行时结构。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src/main.tsx / src/QueryEngine.ts / src/query.ts / src/services/tools/toolExecution.ts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总结构图：Claude Code 的主执行链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从用户输入到主执行链，再到控制面和续航能力。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用户输入之后，系统内部到底穿过了哪些层。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13232" y="2331720"/>
            <a:ext cx="141732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37744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Prompt Stack</a:t>
            </a:r>
            <a:r>
              <a:rPr sz="1250" b="0">
                <a:solidFill>
                  <a:srgbClr val="48C6FF"/>
                </a:solidFill>
                <a:latin typeface="Arial"/>
              </a:rPr>
              <a:t>
提示词栈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526280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QueryEngine</a:t>
            </a:r>
            <a:r>
              <a:rPr sz="1250" b="0">
                <a:solidFill>
                  <a:srgbClr val="9CA3FF"/>
                </a:solidFill>
                <a:latin typeface="Arial"/>
              </a:rPr>
              <a:t>
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656832" y="2267712"/>
            <a:ext cx="1783080" cy="76809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query.ts</a:t>
            </a:r>
            <a:r>
              <a:rPr sz="1250" b="0">
                <a:solidFill>
                  <a:srgbClr val="9CA3FF"/>
                </a:solidFill>
                <a:latin typeface="Arial"/>
              </a:rPr>
              <a:t>
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796528" y="2231136"/>
            <a:ext cx="2148840" cy="841248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  <a:r>
              <a:rPr sz="1250" b="0">
                <a:solidFill>
                  <a:srgbClr val="3DE0C7"/>
                </a:solidFill>
                <a:latin typeface="Arial"/>
              </a:rPr>
              <a:t>
工具执行链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2130552" y="2651760"/>
            <a:ext cx="246888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4160520" y="2651760"/>
            <a:ext cx="36576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4" name="Connector 13"/>
          <p:cNvCxnSpPr/>
          <p:nvPr/>
        </p:nvCxnSpPr>
        <p:spPr>
          <a:xfrm>
            <a:off x="6309360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8449056" y="2651760"/>
            <a:ext cx="34747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841248" y="4005072"/>
            <a:ext cx="3840480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Settings / Auth / Policy / Prompt
控制面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956048" y="4005072"/>
            <a:ext cx="2999232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Transcript / Recovery
Compact / Observability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8247888" y="4005072"/>
            <a:ext cx="2944368" cy="91440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27000" rIns="127000"/>
          <a:lstStyle/>
          <a:p>
            <a:pPr algn="ctr"/>
            <a:r>
              <a:rPr sz="1550" b="1">
                <a:solidFill>
                  <a:srgbClr val="F5F8FF"/>
                </a:solidFill>
                <a:latin typeface="Arial"/>
              </a:rPr>
              <a:t>Tools / Tasks / MCP
执行环境与扩展能力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5440680" y="3035808"/>
            <a:ext cx="0" cy="96926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H="1">
            <a:off x="6492240" y="3035808"/>
            <a:ext cx="1051560" cy="96926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1" name="Connector 20"/>
          <p:cNvCxnSpPr/>
          <p:nvPr/>
        </p:nvCxnSpPr>
        <p:spPr>
          <a:xfrm>
            <a:off x="9893808" y="3072384"/>
            <a:ext cx="0" cy="932688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749808" y="5559552"/>
            <a:ext cx="10835640" cy="6583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749808" y="5559552"/>
            <a:ext cx="10835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调研结论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950976" y="5833872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后面所有技巧，本质上都是在影响这条主执行链。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整体架构中的主要模块与分工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的整体架构拆开之后，最值得优先认识哪些模块，它们的分工是什么。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启动装配：main.tsx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会话宿主：QueryEngine.ts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轮次推进：query.ts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工具执行链：toolExecution.ts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控制面：settings / auth / policy / prompt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扩展与续航：skills / MCP / plugins / transcript / recovery / tasks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核心分工可以概括为：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main.tsx 管装配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QueryEngine.ts 管寿命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
  private mutableMessages: Message[]
  private totalUsage: NonNullableUsage
  private readFileState: FileStateCache
}
type State = {
  messages: Message[]
  toolUseContext: ToolUseContext
  turnCount: number
  transition: Continue | undefined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这些模块共同定义了 Claude Code 的真实运行形态；尤其是装配、宿主、执行三层拆开之后，后面的工作流程和功能就都能落位。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后面的工作流程和主要功能，都会回到这些核心模块上。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控制面为什么重要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总体架构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 Claude Code 的行为边界不是只由模型决定。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它有完整的 control plane（控制面）：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auth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policy limits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managed settings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这些模块共同决定：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哪些工具可用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哪些组织限制生效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function buildEffectiveSystemPrompt({
  customSystemPrompt,
  defaultSystemPrompt,
  appendSystemPrompt,
  overrideSystemPrompt,
}: ...): SystemPrompt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这些模块都能直接影响工具可用性、组织限制和系统行为，因此“边界”不是口头说说，而是代码里的真实裁决链。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 Claude Code 时，很多“为什么它这样做”，其实来自控制面，而不是模型好坏。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src/utils/settings/settings.ts / src/utils/auth.ts / src/services/policyLimits/index.ts / src/utils/systemPrompt.ts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一次请求从哪里开始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用户输入之后，第一步发生了什么。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输入进入 CLI / REPL。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先过 settings / auth / policy。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构造 tools / commands / app state。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然后才进入 QueryEngine 和 query.ts。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// Persist the user's message(s) to transcript BEFORE entering the query loop.
if (persistSession &amp;&amp; messagesFromUserInput.length &gt; 0) {
  const transcriptPromise = recordTranscript(messages)
  ...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在 main.tsx 和 QueryEngine.ts 里，请求处理明显早于模型调用就已经开始。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这解释了为什么相同提示词在不同环境下可能表现不同。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工作流程总图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一次完整请求的主链是什么。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上下文整理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模型采样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继续推进 / 停止 / 压缩 / 恢复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这不是概念图，而是对 query.ts 主循环和 toolExecution.ts 执行链的压缩表达。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的工作流天然就是多轮的。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`turn loop（轮次循环）` 如何推进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一轮 loop 的基本闭环是什么，它为什么不像普通流水线。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当前 messages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context shaping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API request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assistant / tool_use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tool_result 回灌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next turn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但中途还要处理：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prompt_too_long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max_output_tokens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hasAttemptedReactiveCompact: boolean
  maxOutputTokensRecoveryCount: number
  stopHookActive: boolean | undefined
  transition: Continue | undefined
}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 反复围绕 messages、tool context、transition 推进，而且 continuation、compact、recovery 都在主路径里，所以 Claude Code 更像 recovery graph（恢复图），不是简单 pipeline。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context shaping 与 tool pipeline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一次请求如何被推进、约束、回灌、压缩和恢复。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572768"/>
            <a:ext cx="1056132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模型每轮到底看到了什么，工具调用又是怎样被执行的。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331720"/>
            <a:ext cx="132588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用户输入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2402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装配环境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822191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会话宿主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13248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turn loop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995160" y="2331720"/>
            <a:ext cx="16459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tool pipeline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869680" y="2331720"/>
            <a:ext cx="137160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结果回灌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89120" y="406908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01600" bIns="101600" lIns="101600" rIns="101600"/>
          <a:lstStyle/>
          <a:p>
            <a:pPr algn="ctr"/>
            <a:r>
              <a:rPr sz="1500" b="1">
                <a:solidFill>
                  <a:srgbClr val="F5F8FF"/>
                </a:solidFill>
                <a:latin typeface="Arial"/>
              </a:rPr>
              <a:t>继续 / compact / recovery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2075688" y="2688336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>
            <a:off x="3611880" y="2688336"/>
            <a:ext cx="210311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6" name="Connector 15"/>
          <p:cNvCxnSpPr/>
          <p:nvPr/>
        </p:nvCxnSpPr>
        <p:spPr>
          <a:xfrm>
            <a:off x="5193792" y="2688336"/>
            <a:ext cx="219456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7" name="Connector 16"/>
          <p:cNvCxnSpPr/>
          <p:nvPr/>
        </p:nvCxnSpPr>
        <p:spPr>
          <a:xfrm>
            <a:off x="6784848" y="2688336"/>
            <a:ext cx="21031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>
            <a:off x="8641080" y="2688336"/>
            <a:ext cx="22860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H="1">
            <a:off x="7452360" y="3044952"/>
            <a:ext cx="210312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20" name="Connector 19"/>
          <p:cNvCxnSpPr/>
          <p:nvPr/>
        </p:nvCxnSpPr>
        <p:spPr>
          <a:xfrm flipV="1">
            <a:off x="5943600" y="3044952"/>
            <a:ext cx="0" cy="1024128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1" name="Rounded Rectangle 20"/>
          <p:cNvSpPr/>
          <p:nvPr/>
        </p:nvSpPr>
        <p:spPr>
          <a:xfrm>
            <a:off x="786384" y="5138928"/>
            <a:ext cx="10789920" cy="96012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786384" y="5138928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流程要点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69264" y="5468112"/>
            <a:ext cx="10378440" cy="50292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模型看到的不是静态聊天记录，而是动态构造的工作面：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attachments</a:t>
            </a:r>
          </a:p>
          <a:p>
            <a:pPr>
              <a:spcAft>
                <a:spcPts val="500"/>
              </a:spcAft>
            </a:pPr>
            <a:r>
              <a:rPr sz="1380" b="0">
                <a:solidFill>
                  <a:srgbClr val="DEE6F4"/>
                </a:solidFill>
                <a:latin typeface="Arial"/>
              </a:rPr>
              <a:t>relevant memories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transcript / recovery / compact 在流程里的位置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为什么长会话能继续，为什么中断后能恢复。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 保存的是可恢复消息链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 的目标是回到 API 可继续状态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 的目标是重建还能工作的最小 context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
const filteredMessages =
  filterWhitespaceOnlyAssistantMessages(filteredThinking)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这些模块不是边缘工具，而是主流程续航机制，因此 Claude Code 才能支持长任务和断点续做。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“长期工作”是这套系统的显式设计目标。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工作流程小结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工作流程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为什么理解工作流对使用方式有帮助。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不是把一句话直接变成一句话。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它要把请求变成一个可以持续推进、可约束、可恢复的工作过程。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所以后面的功能、产出和建议，本质上都是对这套工作流的利用方式。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从使用角度看，这条工作流还直接决定了三件事：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复杂任务为什么应该拆阶段，而不是一口气塞进一个模糊请求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为什么验证、确认、继续推进这些动作要单独明确表达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为什么带工具、可恢复、可续做的任务，比纯自由聊天更适合 Claude Code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用户越理解这套工作流，越知道什么样的任务组织方式更有效。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Claude Code 有哪些功能面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先从用户感知的能力面理解，再进入主要功能。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417320"/>
            <a:ext cx="1099108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49808" y="1572768"/>
            <a:ext cx="10607040" cy="2011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的能力应该怎么分类理解。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749808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749808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交互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59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commands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structured output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2788920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2788920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执行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62072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Read / Edit / Bash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tool pipeline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task runtime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828032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828032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扩展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901184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skills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MCP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plugins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remote capability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867144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67144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控制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940296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prompt stack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settings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policy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permissions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906256" y="22860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8906256" y="22860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续航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979408" y="26243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replacement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611880" y="4343400"/>
            <a:ext cx="1874519" cy="14630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ectangle 22"/>
          <p:cNvSpPr/>
          <p:nvPr/>
        </p:nvSpPr>
        <p:spPr>
          <a:xfrm>
            <a:off x="3611880" y="4343400"/>
            <a:ext cx="1874519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可观测性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3685032" y="4681728"/>
            <a:ext cx="1737360" cy="100584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profiler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cache break</a:t>
            </a:r>
          </a:p>
          <a:p>
            <a:pPr>
              <a:spcAft>
                <a:spcPts val="500"/>
              </a:spcAft>
            </a:pPr>
            <a:r>
              <a:rPr sz="1260" b="0">
                <a:solidFill>
                  <a:srgbClr val="DEE6F4"/>
                </a:solidFill>
                <a:latin typeface="Arial"/>
              </a:rPr>
              <a:t>context analysis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86384" y="5623560"/>
            <a:ext cx="10789920" cy="59436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786384" y="5623560"/>
            <a:ext cx="10789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调研结论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969264" y="5870448"/>
            <a:ext cx="1037844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理解 Claude Code，先看功能面，再看具体模块，会更容易和后面的使用方式对应起来。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交互、执行、扩展与控制功能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在所有功能面里，哪些最直接决定用户能做什么、系统能放开到哪一步。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交互面：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REPL 输入与多轮对话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slash commands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structured output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progress / system / compact 边界消息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执行面：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读文件、改文件、查文件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与命令执行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任务与子代理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case 'assistant':
  this.mutableMessages.push(message)
  yield* normalizeMessage(message)
  break
case 'progress':
  this.mutableMessages.push(message)
  ...
  yield* normalizeMessage(message)
  break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不只处理普通对话消息，还处理 progress、system、compact 边界等运行时消息；同时扩展和控制模块又分离存在，这说明它从交互层开始就已经是一个工作流系统，而不是自由聊天窗口。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的上限由扩展面决定，下限由控制面决定。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src/commands.ts / src/tools.ts / src/QueryEngine.ts / src/utils/systemPrompt.ts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续航与可观测性功能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为什么能支持长任务、恢复和持续诊断。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续航能力：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transcript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compact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content replacement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session / task memory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可观测性能力：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query profiler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prompt cache 诊断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
const filteredMessages =
  filterWhitespaceOnlyAssistantMessages(filteredThinking)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这些模块单独存在，说明 Claude Code 把“长任务续航”和“运行时诊断”视作一等能力，而不是出现问题后的补丁。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真正拉开差距的地方，不是功能数量，而是续航和诊断能力。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src/utils/queryProfiler.ts / src/utils/analyzeContext.ts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Prompt Stack（提示词栈）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的默认角色和行为边界，是怎么在系统里被定义出来的。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定义系统默认行为、角色和输出风格。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由 default prompt、override prompt、agent prompt、dynamic sections 叠加而成。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一部分内容可以 cache，一部分内容按会话动态拼接。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任务表达越工程化越好。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范围、约束、验证越明确越好。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默认 system prompt 直接把用户请求定义成软件工程任务，因此“工程化表达更稳”不是经验，而是系统默认角色的直接结果。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使用 Claude Code，第一步不是“会不会提 prompt”，而是“会不会用它默认理解的任务语言说话”。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src/utils/systemPrompt.ts / src/constants/prompts.ts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Turn Loop（轮次循环）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为什么更像一个会持续推进的执行系统，而不是一问一答。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推进一轮轮 agent 执行。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维护 state、transition、toolUseContext、compact / recovery 分支。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在一轮 assistant 结果和下一轮工具/续写之间维持连续性。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大任务要拆阶段。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输入要清楚到足以支持持续推进。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复杂任务不要指望“一轮说清一切”。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type State = {
  messages: Message[]
  toolUseContext: ToolUseContext
  pendingToolUseSummary: Promise&lt;ToolUseSummaryMessage | null&gt; | undefined
  stopHookActive: boolean | undefined
  turnCount: number
  transition: Continue | undefined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State 里保存的是跨轮迁移状态，不只是消息，因此 Claude Code 天然更适合可继续推进的任务，而不是模糊一次性请求。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的强项不是“回答”，而是“推进”。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src/query.ts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Tool Pipeline 与 BashTool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为什么工具调用有完整执行链，Bash 又为什么需要被单独看待。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把工具能力放进可约束的执行链，同时提供最强但风险最高的 Bash 能力。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Tool Pipeline：schema parse -&gt; validate -&gt; hooks -&gt; permissions -&gt; call -&gt; post process。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BashTool：sandbox、只读识别、路径校验、破坏性判断、长输出处理。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能用专用工具就别默认 Bash。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高风险动作要写清确认方式。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Bash 更适合兜底，不适合当常规主路径。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parsedInput = tool.inputSchema.safeParse(input)
...
runPreToolUseHooks(...)
...
resolveHookPermissionDecision(...)
...
tool.call(...)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工具调用先经过 parse、hooks、permissions、classifier，再到真正执行；而 BashTool 周围又专门拆出安全子模块，这说明 Claude Code 鼓励的是可审查的执行路径，而不是随时走 shell。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工具不是“能力列表”，而是一条带审查和边界的执行链。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src/tools/BashTool/BashTool.tsx / src/tools/BashTool/prompt.ts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Compact、Transcript / Recovery、Content Replacement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长会话为什么不会膨胀失控，中断之后又为什么还能续做。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控制长会话上下文体积，保证消息链可恢复，并治理大工具输出。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compact：microcompact、autocompact、reactive compact，重建工作面。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recovery：修 unresolved tool use、thinking、continuation，回到 API 可继续状态。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content replacement：大结果落盘、preview replacement、resume replay，保证看过的前缀不漂。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长任务和断点续做是 Claude Code 的强项之一。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不要要求模型永远在上下文里保留完整大输出。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对复杂任务，不必强迫一轮做完。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const filteredToolUses = filterUnresolvedToolUses(migratedMessages)
const filteredThinking =
  filterOrphanedThinkingOnlyMessages(filteredToolUses)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compact、recovery 和 replacement 共同维护的是“可持续工作”和“前缀稳定性”，这说明 Claude Code 的续航能力不是附加特性，而是底层设计目标。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的长期工作能力，是运行时设计出来的，不是偶然效果。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src/utils/sessionStorage.ts / src/utils/conversationRecovery.ts / src/services/compact/compact.ts / src/utils/toolResultStorage.ts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Skills 与 Attachments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的上下文为什么是动态构造的，skill 又为什么不是简单模板。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用 skills 打开条件激活的能力面；用 attachments 动态组装当前轮上下文。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skills 会按路径、上下文和 compact 结果被激活与保留。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attachments 会注入 memories、skill delta、task messages、system reminders。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 更适合用于有明显任务边界的场景。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当前轮的任务组织方式会直接影响 Claude Code 看到的上下文。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任务阶段、文件范围和关键提醒，最好显式表达。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function createSkillCommand({...}): Command {
  return {
    type: 'prompt',
    name: skillName,
    allowedTools,
    whenToUse,
    model,
    effort,
  }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skills 和 attachments 一起说明，Claude Code 每轮看到的不是静态聊天记录，而是被运行时重新拼出的工作面。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会组织上下文，就会更好地用 Claude Code。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src/utils/skills/loadSkillsDir.ts / src/utils/attachments.ts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Permissions / Hooks / Classifier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的行动边界，到底是怎么落在系统里的。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决定模型能否继续代表用户行动。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allow / ask / deny、hook pre/post、classifier 决策链、auto mode。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工具执行不是“能调就调”，而是被运行时裁决。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高风险动作要写清楚。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模糊授权会显著放大不确定性。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团队协作时，责任边界要显式表达。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if (appState.toolPermissionContext.mode === 'auto') {
  ...
  classifierResult = await classifyYoloAction(...)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permissions、hooks、classifier 都位于工具执行链中，说明真正的自主边界在 runtime 内部，而不是口头提醒。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Claude Code 并不是“模型想到什么就去做什么”，真正的边界在执行链里。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src/services/tools/toolExecution.ts / src/utils/permissions/permissions.ts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Tasks / Subagents / Mailbox 与 MCP / Plugins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 / 实现原理 / 使用技巧 / 代码理解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为什么适合处理阶段性任务和多执行体协作，同时又能不断扩展上限。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3584448" cy="123444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功能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14600"/>
            <a:ext cx="3200400" cy="8046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60" b="0">
                <a:solidFill>
                  <a:srgbClr val="DEE6F4"/>
                </a:solidFill>
                <a:latin typeface="Arial"/>
              </a:rPr>
              <a:t>把异步执行体变成一等对象，并通过 MCP / plugins / remote capability 扩展能力上限。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3566160"/>
            <a:ext cx="3584448" cy="199339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566928" y="3566160"/>
            <a:ext cx="358444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实现原理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9808" y="3904487"/>
            <a:ext cx="320040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task registry、local/remote agent、sidechain transcript、mailbox protocol。</a:t>
            </a:r>
          </a:p>
          <a:p>
            <a:pPr>
              <a:spcAft>
                <a:spcPts val="500"/>
              </a:spcAft>
            </a:pPr>
            <a:r>
              <a:rPr sz="1300" b="0">
                <a:solidFill>
                  <a:srgbClr val="DEE6F4"/>
                </a:solidFill>
                <a:latin typeface="Arial"/>
              </a:rPr>
              <a:t>MCP client、plugin loader、remote session / remote agent。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15968" y="2176272"/>
            <a:ext cx="2834640" cy="33832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4315968" y="2176272"/>
            <a:ext cx="28346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使用技巧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498848" y="2514600"/>
            <a:ext cx="2468880" cy="29077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复杂任务适合拆成阶段或子任务。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需要并行探索时，要显式定义子任务边界。</a:t>
            </a:r>
          </a:p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Claude Code 的上限不仅取决于模型，也取决于能接入哪些能力面。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7333488" y="2176272"/>
            <a:ext cx="4224528" cy="192024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function registerTask(task: TaskState, setAppState: SetAppState): void {
  ...
  enqueueSdkEvent({
    type: 'system',
    subtype: 'task_started',
    task_id: task.id,
  })
}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333488" y="2176272"/>
            <a:ext cx="4224528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7333488" y="4261104"/>
            <a:ext cx="4224528" cy="129844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ectangle 18"/>
          <p:cNvSpPr/>
          <p:nvPr/>
        </p:nvSpPr>
        <p:spPr>
          <a:xfrm>
            <a:off x="7333488" y="4261104"/>
            <a:ext cx="42245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这段代码说明什么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498079" y="4572000"/>
            <a:ext cx="3858768" cy="859536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280" b="0">
                <a:solidFill>
                  <a:srgbClr val="DEE6F4"/>
                </a:solidFill>
                <a:latin typeface="Arial"/>
              </a:rPr>
              <a:t>task registry、mailbox、sidechain transcript 和 MCP / plugins 同时存在，说明 Claude Code 已经有多执行体 runtime 和能力枢纽的雏形。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Rectangle 21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按任务系统思维组织复杂工作，并主动扩展能力面，会比把所有事都塞进一个 prompt 更稳。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src/Task.ts / src/utils/task/framework.ts / src/tools/AgentTool/runAgent.ts / src/services/mcp/client.ts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重要功能小结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功能介绍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为什么前面这些功能值得逐个讲，而且必须和使用方式联系起来。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因为它们共同决定了：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系统如何继续工作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用户如何更稳地使用它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哪些边界必须显式表达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更适合什么样的工程任务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真正有价值的不是“记住功能名”，而是知道：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哪个功能解决哪个问题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它会导出怎样的使用方式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如果把前面的重点功能压成用户最需要记住的五个点，大致就是：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Prompt Stack、Turn Loop、Tool Pipeline、Compact、Recovery、Tasks 都直接对应一类真实运行时问题，因此“技巧”必须回到这些机制上理解。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真正的“使用技巧”，必须回到运行时机制上理解。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从用户视角看，Claude Code 最典型的产出是什么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最擅长产出什么结果。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代码修改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代码解释与定位结论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调试与排障结论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命令执行与验证结果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计划、任务拆解、review 结论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结构化输出与工作卡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这些结果共同特点是：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可执行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可验证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addFunctionHook(
  setAppState,
  sessionId,
  'Stop',
  '',
  messages =&gt; hasSuccessfulToolCall(messages, SYNTHETIC_OUTPUT_TOOL_NAME),
  `You MUST call the ${SYNTHETIC_OUTPUT_TOOL_NAME} tool to complete this request. Call this tool now.`,
)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commands、Edit/Read/Bash、structured output、Plan Mode、task runtime 在代码里都明确存在，说明它默认就围绕工程结果设计。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最适合被当作工程产出生成器，而不是意见生成器。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哪些任务适合 / 不适合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哪类任务最能发挥这套系统的优势，哪类任务会让它失稳。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适合：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局部修复与重构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多文件追踪与定位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命令执行与验证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需要形成“代码 + 解释 + 验证”的任务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不适合直接硬做：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目标极度模糊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范围完全不受限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适合的任务天然贴合 tool pipeline + plan + task runtime + recovery 这几条主能力链；不适合的任务则会同时让 prompt stack、工具执行链和权限链进入不稳定状态。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为什么它能稳定地产出这些结果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Claude Code 为什么比普通聊天系统更容易产出稳定工程结果。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默认角色是工程代理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工具执行受约束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结果可进入 transcript / compact / recovery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plan、task、memory 支持多阶段工作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输出不是“一轮完成”，而是可继续推进的工作过程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
...
Report outcomes faithfully...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角色定义、执行链、续航链和任务链一起存在，决定了 Claude Code 更容易产出“工作结果”，而不是发散回答。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稳定产出来自运行时结构，不只是模型强。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src/constants/prompts.ts / src/services/tools/toolExecution.ts / src/utils/sessionStorage.ts / src/utils/messages.ts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产出小结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产出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从用户视角，前面这些产出和适用任务能压成什么结论。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Claude Code 最适合用来推进工程任务。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它特别适合产出“代码 + 解释 + 验证 + 计划”。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它不适合完全模糊、完全无边界的自由发挥。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任务是否适合 Claude Code，本质上取决于：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是否能定义清楚目标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是否能给出边界和验证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是否允许分阶段推进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在任务筛选上，可以优先把它放到这些场景：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有明确目标、范围和完成标准的编码任务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先理解产出形态，再谈技巧，效果会更稳。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为什么要单独讲“开发流程建议”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为什么最后还要讲“建议”，而不是停在架构和功能。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因为 Claude Code 最终是用来协作和产出的。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只有把前面的 runtime 逻辑翻译成工作流建议，分享才真正落地。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这里的建议不是经验帖，而是从系统默认行为和执行链约束反推出来的工作方式。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更具体地说，推荐的开发流程可以压成四步：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先定义目标、范围、边界和验证方式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再决定是否需要先读代码、先 plan、先拆子任务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再让 Claude Code 进入执行、验证和继续推进阶段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对高风险动作、复杂协作和长任务，显式补足边界条件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这样做的意义不只是“更安全”，而是能显著降低范围漂移、误解任务和跳过验证的概率。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这一部分不是“经验汇总”，而是从源码约束倒推出的协作方式。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建议一：把任务组织成工程任务，而不是聊天请求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什么样的任务表达方式最贴近 Claude Code 的默认角色。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把任务写成：目标、范围、约束、验证。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避免模糊话术和隐藏边界。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尽量把任务写成 Claude Code 可以持续推进的工程工作，而不是抽象愿望。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The user will primarily request you to perform software engineering tasks.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system prompt 已经把用户请求定义成工程任务，因此任务表达越工程化，Claude Code 越接近默认最佳状态。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想用稳 Claude Code，先把任务写得像工程任务。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建议二：先读代码，再改代码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为什么“先读代码”必须显式写出来，而不是默认它自然会做。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明确要求先读关键文件。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不要一上来就让它直接改。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给出阅读入口，会减少无关探索和错误改动。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In general, do not propose changes to code you haven't read.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这不是使用习惯，而是 prompt stack 明确写出的默认行为。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想要稳定质量，先让 Claude Code 建立正确上下文。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建议三：最小改动，优先复用；专用工具优先，Bash 后置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为什么“最小改动、优先复用”和“专用工具优先”常常要一起强调。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明确要求最小必要改动。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优先复用现有模式。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不要默认允许顺手抽象。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有 dedicated tools 时优先 dedicated tools。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Bash 是高能力、高风险通道。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Don't create helpers, utilities, or abstractions for one-time operations.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默认就反对无边界“优化”和一锤子抽象，同时工具执行链与 BashTool 安全层也共同说明：系统鼓励可审查的执行路径，而不是随时走 shell。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先把问题修好，再考虑抽象；先走专用工具，再考虑 Bash。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建议四：验证要单独要求；高风险动作要写清确认规则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为什么“验证”和“风险边界”必须被单独写出来。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验证不是默认一定会发生。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验证结果要显式回报。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删除、覆盖、push、外发等动作要明确确认。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不要给模糊授权。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Report outcomes faithfully...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默认 prompt 会直接约束结果汇报，而 BashTool prompt、tool pipeline、permissions 又都把高风险动作当成单独路径，因此“验证”和“确认规则”都不该省略。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能帮你执行和验证，但前提是你把风险边界和验证条件一开始就写清楚。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建议五：复杂任务先走 Plan Mode；独立查询允许并行，长任务允许分阶段推进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复杂任务为什么要先规划，长任务为什么要按阶段推进。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先探索、再计划、后实现。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不要在需求不清时直接让它开干。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独立查询可以 parallel。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长任务适合拆阶段、拆子任务。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对并行探索，最好先定义每个子任务的范围和输出要求。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Explore — Use the tools available to you to learn about the codebase...
Update the plan file with a clear plan.
Ask the user questions, but only if necessary.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Plan workflow 明确把“探索现有实现、更新计划、再问缺失信息”做成了独立流程；并行工具调用和 task runtime 又是系统一级能力，因此复杂任务和长任务都应该按阶段设计。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对复杂任务，先让 Claude Code 帮你把问题讲清楚；对长任务，按阶段组织它。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src/utils/messages.ts / src/utils/task/framework.ts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建议六：哪些任务最适合直接交给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如果要把任务直接扔给 Claude Code，哪类最值得优先尝试。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局部修复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代码理解与定位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需要命令验证的任务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可分阶段推进的任务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需要“代码 + 解释 + 验证结果”的任务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这些任务正好贴合 prompt stack、tool pipeline、task runtime 和 recovery 的优势区间。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优先把适合的任务交给 Claude Code，才能快速建立正确使用感。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建议七：哪些任务要谨慎交给 Claude Code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哪些任务最容易把 Claude Code 带离稳定区间。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完全模糊的探索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范围极大的全局变更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高风险但边界不清的动作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需要大量隐性业务背景的任务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既没有验证条件，又没有结果格式要求的任务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Claude Code 不是不能做，而是这类任务更容易让 prompt stack、tool pipeline 和权限链都处在不稳定状态。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不是所有任务都该交给 Claude Code，任务筛选本身就是能力的一部分。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团队协作时，应该把 Claude Code 当成什么角色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在团队里，Claude Code 最适合作为什么样的协作对象存在。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工程代理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多阶段任务推进器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带工具的验证者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文档、代码、验证结果的联合产出器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而不是“替代所有人判断”的黑盒执行者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17830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Just writing a response in text is not visible to others on your team -
you MUST use the SendMessage tool.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7150608" y="4114800"/>
            <a:ext cx="4389120" cy="167335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150608" y="411480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这段代码说明什么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333488" y="4443983"/>
            <a:ext cx="4023360" cy="126187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commands、Plan Mode、task runtime、structured output、tool pipeline 都说明它更适合作为“协作型工程执行体”，而不是单纯聊天机器人。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ectangle 15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团队越把 Claude Code 放在正确角色上，它越容易发挥稳定价值。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开发流程建议小结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开发流程建议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37160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68096" y="1618488"/>
            <a:ext cx="10561320" cy="1828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50" b="0">
                <a:solidFill>
                  <a:srgbClr val="DEE6F4"/>
                </a:solidFill>
                <a:latin typeface="Arial"/>
              </a:rPr>
              <a:t>前面的建议如果收成一句方法论，应该怎么记。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76272"/>
            <a:ext cx="6400800" cy="3611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ectangle 7"/>
          <p:cNvSpPr/>
          <p:nvPr/>
        </p:nvSpPr>
        <p:spPr>
          <a:xfrm>
            <a:off x="566928" y="2176272"/>
            <a:ext cx="6400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核心内容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49808" y="2523744"/>
            <a:ext cx="6080760" cy="31821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先用少量源码理解建立正确模型。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再把重心放到产出、使用方式和任务组织。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所有真正有效的技巧，都可以回到代码机制解释。</a:t>
            </a:r>
          </a:p>
          <a:p>
            <a:pPr>
              <a:spcAft>
                <a:spcPts val="500"/>
              </a:spcAft>
            </a:pPr>
            <a:r>
              <a:rPr sz="1520" b="0">
                <a:solidFill>
                  <a:srgbClr val="DEE6F4"/>
                </a:solidFill>
                <a:latin typeface="Arial"/>
              </a:rPr>
              <a:t>更好的使用方式，本质上就是更贴近 Claude Code 默认运行方式的协作方式。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7150608" y="2176272"/>
            <a:ext cx="4389120" cy="2029968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ectangle 10"/>
          <p:cNvSpPr/>
          <p:nvPr/>
        </p:nvSpPr>
        <p:spPr>
          <a:xfrm>
            <a:off x="7150608" y="2176272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实现含义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33488" y="2523744"/>
            <a:ext cx="4023360" cy="1572768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本页重点在于建立整体理解，而不是展开单段代码。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150608" y="4389120"/>
            <a:ext cx="4389120" cy="1399032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7150608" y="4389120"/>
            <a:ext cx="43891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相关代码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333488" y="4718304"/>
            <a:ext cx="3977639" cy="98755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160" b="0">
                <a:solidFill>
                  <a:srgbClr val="DEE6F4"/>
                </a:solidFill>
                <a:latin typeface="Arial"/>
              </a:rPr>
              <a:t>本页无单独源码列表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5989320"/>
            <a:ext cx="10991088" cy="62179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566928" y="5989320"/>
            <a:ext cx="1099108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6245352"/>
            <a:ext cx="10588752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20" b="0">
                <a:solidFill>
                  <a:srgbClr val="DEE6F4"/>
                </a:solidFill>
                <a:latin typeface="Arial"/>
              </a:rPr>
              <a:t>Claude Code 最值得学的，不只是它“会什么”，而是你怎样组织任务，才能让它稳定地产出高质量工程结果。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代码组织和架构概略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按主执行链和控制链理解代码结构，而不是按目录平铺。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737360"/>
            <a:ext cx="155448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main.tsx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560320" y="1737360"/>
            <a:ext cx="182880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QueryEngine.ts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800600" y="1737360"/>
            <a:ext cx="155448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query.ts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675120" y="1737360"/>
            <a:ext cx="201168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toolExecution.ts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9098280" y="1737360"/>
            <a:ext cx="2148840" cy="640080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420" b="1">
                <a:solidFill>
                  <a:srgbClr val="F5F8FF"/>
                </a:solidFill>
                <a:latin typeface="Arial"/>
              </a:rPr>
              <a:t>compact / recovery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40280" y="2057400"/>
            <a:ext cx="32004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4389120" y="2057400"/>
            <a:ext cx="41148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Connector 11"/>
          <p:cNvCxnSpPr/>
          <p:nvPr/>
        </p:nvCxnSpPr>
        <p:spPr>
          <a:xfrm>
            <a:off x="6355080" y="2057400"/>
            <a:ext cx="32004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3" name="Connector 12"/>
          <p:cNvCxnSpPr/>
          <p:nvPr/>
        </p:nvCxnSpPr>
        <p:spPr>
          <a:xfrm>
            <a:off x="8686800" y="2057400"/>
            <a:ext cx="411480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1143000" y="2834640"/>
            <a:ext cx="31089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80" b="1">
                <a:solidFill>
                  <a:srgbClr val="F5F8FF"/>
                </a:solidFill>
                <a:latin typeface="Arial"/>
              </a:rPr>
              <a:t>settings / auth / policy / prompt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754880" y="2834640"/>
            <a:ext cx="283464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20" b="1">
                <a:solidFill>
                  <a:srgbClr val="F5F8FF"/>
                </a:solidFill>
                <a:latin typeface="Arial"/>
              </a:rPr>
              <a:t>tasks / MCP / plugins / skills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001000" y="2834640"/>
            <a:ext cx="233172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340" b="1">
                <a:solidFill>
                  <a:srgbClr val="F5F8FF"/>
                </a:solidFill>
                <a:latin typeface="Arial"/>
              </a:rPr>
              <a:t>messages / transcript</a:t>
            </a:r>
          </a:p>
        </p:txBody>
      </p:sp>
      <p:cxnSp>
        <p:nvCxnSpPr>
          <p:cNvPr id="17" name="Connector 16"/>
          <p:cNvCxnSpPr/>
          <p:nvPr/>
        </p:nvCxnSpPr>
        <p:spPr>
          <a:xfrm flipV="1">
            <a:off x="2743200" y="2377440"/>
            <a:ext cx="685800" cy="45720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8" name="Connector 17"/>
          <p:cNvCxnSpPr/>
          <p:nvPr/>
        </p:nvCxnSpPr>
        <p:spPr>
          <a:xfrm flipH="1" flipV="1">
            <a:off x="5669280" y="2377440"/>
            <a:ext cx="502920" cy="457200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9" name="Connector 18"/>
          <p:cNvCxnSpPr/>
          <p:nvPr/>
        </p:nvCxnSpPr>
        <p:spPr>
          <a:xfrm flipV="1">
            <a:off x="9144000" y="2377440"/>
            <a:ext cx="548640" cy="457200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685800" y="3794760"/>
            <a:ext cx="4892040" cy="18288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ectangle 20"/>
          <p:cNvSpPr/>
          <p:nvPr/>
        </p:nvSpPr>
        <p:spPr>
          <a:xfrm>
            <a:off x="685800" y="3794760"/>
            <a:ext cx="4892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代码结构拆法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68680" y="4133087"/>
            <a:ext cx="4526280" cy="135331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启动与装配：main.tsx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会话与执行：QueryEngine.ts、query.ts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工具与命令：Tool.ts、tools.ts、commands.ts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续航与恢复：sessionStorage.ts、conversationRecovery.ts、compact/*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扩展与控制：settings、auth、policy、MCP、plugins、skills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这套代码最适合按“运行链 + 控制链”来阅读。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这六层不是教科书式的干净分层，而是阅读源码时最有帮助的拆法：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806440" y="3794760"/>
            <a:ext cx="5486400" cy="182880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export class QueryEngine { ... }
type State = { ... }
export async function executeToolCalls(...) { ... }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806440" y="3794760"/>
            <a:ext cx="548640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85800" y="5897880"/>
            <a:ext cx="10625328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Rectangle 25"/>
          <p:cNvSpPr/>
          <p:nvPr/>
        </p:nvSpPr>
        <p:spPr>
          <a:xfrm>
            <a:off x="685800" y="5897880"/>
            <a:ext cx="10625328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68680" y="6099048"/>
            <a:ext cx="10241280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先看代码分层，再看实现细节，效率会高很多。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建议的代码走读顺序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先抓主执行链，再补续航、扩展和控制。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85800" y="1572768"/>
            <a:ext cx="5257800" cy="1325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Rectangle 5"/>
          <p:cNvSpPr/>
          <p:nvPr/>
        </p:nvSpPr>
        <p:spPr>
          <a:xfrm>
            <a:off x="685800" y="1572768"/>
            <a:ext cx="5257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48C6FF"/>
                </a:solidFill>
                <a:latin typeface="Arial"/>
              </a:rPr>
              <a:t>第一遍：主执行链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96112" y="1993392"/>
            <a:ext cx="105156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main.tsx</a:t>
            </a:r>
          </a:p>
        </p:txBody>
      </p:sp>
      <p:cxnSp>
        <p:nvCxnSpPr>
          <p:cNvPr id="8" name="Connector 7"/>
          <p:cNvCxnSpPr/>
          <p:nvPr/>
        </p:nvCxnSpPr>
        <p:spPr>
          <a:xfrm>
            <a:off x="1947672" y="2240280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Rounded Rectangle 8"/>
          <p:cNvSpPr/>
          <p:nvPr/>
        </p:nvSpPr>
        <p:spPr>
          <a:xfrm>
            <a:off x="2112264" y="1993392"/>
            <a:ext cx="132588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QueryEngine.ts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3438144" y="2240280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1" name="Rounded Rectangle 10"/>
          <p:cNvSpPr/>
          <p:nvPr/>
        </p:nvSpPr>
        <p:spPr>
          <a:xfrm>
            <a:off x="3602736" y="1993392"/>
            <a:ext cx="105156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query.ts</a:t>
            </a:r>
          </a:p>
        </p:txBody>
      </p:sp>
      <p:cxnSp>
        <p:nvCxnSpPr>
          <p:cNvPr id="12" name="Connector 11"/>
          <p:cNvCxnSpPr/>
          <p:nvPr/>
        </p:nvCxnSpPr>
        <p:spPr>
          <a:xfrm>
            <a:off x="4654296" y="2240280"/>
            <a:ext cx="164592" cy="0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3" name="Rounded Rectangle 12"/>
          <p:cNvSpPr/>
          <p:nvPr/>
        </p:nvSpPr>
        <p:spPr>
          <a:xfrm>
            <a:off x="4818888" y="1993392"/>
            <a:ext cx="105156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60" b="1">
                <a:solidFill>
                  <a:srgbClr val="F5F8FF"/>
                </a:solidFill>
                <a:latin typeface="Arial"/>
              </a:rPr>
              <a:t>toolExecution.ts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7920" y="1572768"/>
            <a:ext cx="5074920" cy="13258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ectangle 14"/>
          <p:cNvSpPr/>
          <p:nvPr/>
        </p:nvSpPr>
        <p:spPr>
          <a:xfrm>
            <a:off x="6217920" y="1572768"/>
            <a:ext cx="507492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第二遍：续航与扩展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537960" y="1993392"/>
            <a:ext cx="178308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40" b="1">
                <a:solidFill>
                  <a:srgbClr val="F5F8FF"/>
                </a:solidFill>
                <a:latin typeface="Arial"/>
              </a:rPr>
              <a:t>compact / recovery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8321040" y="2240280"/>
            <a:ext cx="320040" cy="0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823960" y="1993392"/>
            <a:ext cx="1783080" cy="502920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76200" rIns="76200"/>
          <a:lstStyle/>
          <a:p>
            <a:pPr algn="ctr"/>
            <a:r>
              <a:rPr sz="1140" b="1">
                <a:solidFill>
                  <a:srgbClr val="F5F8FF"/>
                </a:solidFill>
                <a:latin typeface="Arial"/>
              </a:rPr>
              <a:t>tasks / MCP / skills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3246120"/>
            <a:ext cx="5257800" cy="201168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3246120"/>
            <a:ext cx="525780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3DE0C7"/>
                </a:solidFill>
                <a:latin typeface="Arial"/>
              </a:rPr>
              <a:t>阅读顺序的原因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3584448"/>
            <a:ext cx="4892040" cy="1554480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compact / recovery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commands / tools / MCP / tasks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这条顺序可以先建立最小完整模型，再逐步钻进细节。</a:t>
            </a:r>
          </a:p>
          <a:p>
            <a:pPr>
              <a:spcAft>
                <a:spcPts val="500"/>
              </a:spcAft>
            </a:pPr>
            <a:r>
              <a:rPr sz="1310" b="0">
                <a:solidFill>
                  <a:srgbClr val="DEE6F4"/>
                </a:solidFill>
                <a:latin typeface="Arial"/>
              </a:rPr>
              <a:t>如果时间更紧，可以进一步压成“两遍阅读”：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217920" y="3246120"/>
            <a:ext cx="5074920" cy="2011680"/>
          </a:xfrm>
          <a:prstGeom prst="roundRect">
            <a:avLst/>
          </a:prstGeom>
          <a:solidFill>
            <a:srgbClr val="070F1F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177800" bIns="76200" lIns="127000" rIns="127000"/>
          <a:lstStyle/>
          <a:p>
            <a:pPr algn="ctr"/>
            <a:r>
              <a:rPr sz="1050" b="0">
                <a:solidFill>
                  <a:srgbClr val="BEF6FF"/>
                </a:solidFill>
                <a:latin typeface="Courier New"/>
              </a:rPr>
              <a:t>// Persist the user's message(s) to transcript BEFORE entering the query loop.
if (persistSession &amp;&amp; messagesFromUserInput.length &gt; 0) {
  const transcriptPromise = recordTranscript(messages)
  ...
}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217920" y="3246120"/>
            <a:ext cx="5074920" cy="256032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76200" rIns="76200"/>
          <a:lstStyle/>
          <a:p>
            <a:pPr algn="ctr"/>
            <a:r>
              <a:rPr sz="1000" b="1">
                <a:solidFill>
                  <a:srgbClr val="48C6FF"/>
                </a:solidFill>
                <a:latin typeface="Courier New"/>
              </a:rPr>
              <a:t>关键源码片段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85800" y="5532120"/>
            <a:ext cx="10607040" cy="566928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ectangle 24"/>
          <p:cNvSpPr/>
          <p:nvPr/>
        </p:nvSpPr>
        <p:spPr>
          <a:xfrm>
            <a:off x="685800" y="5532120"/>
            <a:ext cx="10607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68680" y="5760720"/>
            <a:ext cx="10241280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代码走读不应该按目录平铺，而应该按运行链和控制链阅读。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40A18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02920" y="256032"/>
            <a:ext cx="11064240" cy="6400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2400" b="1">
                <a:solidFill>
                  <a:srgbClr val="F5F8FF"/>
                </a:solidFill>
                <a:latin typeface="Arial"/>
              </a:rPr>
              <a:t>主要模块与重点文件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30352" y="841248"/>
            <a:ext cx="10972800" cy="347472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150" b="0">
                <a:solidFill>
                  <a:srgbClr val="99ABC4"/>
                </a:solidFill>
                <a:latin typeface="Arial"/>
              </a:rPr>
              <a:t>围绕五个高价值入口文件建立整体模型。</a:t>
            </a:r>
          </a:p>
        </p:txBody>
      </p:sp>
      <p:sp>
        <p:nvSpPr>
          <p:cNvPr id="4" name="Rectangle 3"/>
          <p:cNvSpPr/>
          <p:nvPr/>
        </p:nvSpPr>
        <p:spPr>
          <a:xfrm>
            <a:off x="530352" y="1170432"/>
            <a:ext cx="2194560" cy="27432"/>
          </a:xfrm>
          <a:prstGeom prst="rect">
            <a:avLst/>
          </a:prstGeom>
          <a:solidFill>
            <a:srgbClr val="48C6F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4983480" y="2011680"/>
            <a:ext cx="2194560" cy="713232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76200" bIns="76200" lIns="101600" rIns="101600"/>
          <a:lstStyle/>
          <a:p>
            <a:pPr algn="ctr"/>
            <a:r>
              <a:rPr sz="1600" b="1">
                <a:solidFill>
                  <a:srgbClr val="F5F8FF"/>
                </a:solidFill>
                <a:latin typeface="Arial"/>
              </a:rPr>
              <a:t>五个入口文件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14400" y="141732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48C6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main.tsx</a:t>
            </a:r>
          </a:p>
        </p:txBody>
      </p:sp>
      <p:cxnSp>
        <p:nvCxnSpPr>
          <p:cNvPr id="7" name="Connector 6"/>
          <p:cNvCxnSpPr/>
          <p:nvPr/>
        </p:nvCxnSpPr>
        <p:spPr>
          <a:xfrm>
            <a:off x="1828800" y="2002536"/>
            <a:ext cx="4251960" cy="722376"/>
          </a:xfrm>
          <a:prstGeom prst="line">
            <a:avLst/>
          </a:prstGeom>
          <a:ln w="20320">
            <a:solidFill>
              <a:srgbClr val="48C6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8" name="Rounded Rectangle 7"/>
          <p:cNvSpPr/>
          <p:nvPr/>
        </p:nvSpPr>
        <p:spPr>
          <a:xfrm>
            <a:off x="8138160" y="141732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QueryEngine.ts</a:t>
            </a:r>
          </a:p>
        </p:txBody>
      </p:sp>
      <p:cxnSp>
        <p:nvCxnSpPr>
          <p:cNvPr id="9" name="Connector 8"/>
          <p:cNvCxnSpPr/>
          <p:nvPr/>
        </p:nvCxnSpPr>
        <p:spPr>
          <a:xfrm flipH="1">
            <a:off x="6080760" y="2002536"/>
            <a:ext cx="2971800" cy="722376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1051560" y="297180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9CA3FF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query.ts</a:t>
            </a:r>
          </a:p>
        </p:txBody>
      </p:sp>
      <p:cxnSp>
        <p:nvCxnSpPr>
          <p:cNvPr id="11" name="Connector 10"/>
          <p:cNvCxnSpPr/>
          <p:nvPr/>
        </p:nvCxnSpPr>
        <p:spPr>
          <a:xfrm flipV="1">
            <a:off x="1965960" y="2724912"/>
            <a:ext cx="4114800" cy="832104"/>
          </a:xfrm>
          <a:prstGeom prst="line">
            <a:avLst/>
          </a:prstGeom>
          <a:ln w="20320">
            <a:solidFill>
              <a:srgbClr val="9CA3F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7818120" y="297180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3DE0C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toolExecution.ts</a:t>
            </a:r>
          </a:p>
        </p:txBody>
      </p:sp>
      <p:cxnSp>
        <p:nvCxnSpPr>
          <p:cNvPr id="13" name="Connector 12"/>
          <p:cNvCxnSpPr/>
          <p:nvPr/>
        </p:nvCxnSpPr>
        <p:spPr>
          <a:xfrm flipH="1" flipV="1">
            <a:off x="6080760" y="2724912"/>
            <a:ext cx="2651760" cy="832104"/>
          </a:xfrm>
          <a:prstGeom prst="line">
            <a:avLst/>
          </a:prstGeom>
          <a:ln w="20320">
            <a:solidFill>
              <a:srgbClr val="3DE0C7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4" name="Rounded Rectangle 13"/>
          <p:cNvSpPr/>
          <p:nvPr/>
        </p:nvSpPr>
        <p:spPr>
          <a:xfrm>
            <a:off x="4343400" y="3840480"/>
            <a:ext cx="1828800" cy="585216"/>
          </a:xfrm>
          <a:prstGeom prst="roundRect">
            <a:avLst/>
          </a:prstGeom>
          <a:solidFill>
            <a:srgbClr val="0A162E"/>
          </a:solidFill>
          <a:ln>
            <a:solidFill>
              <a:srgbClr val="FACC15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3500" bIns="63500" lIns="101600" rIns="101600"/>
          <a:lstStyle/>
          <a:p>
            <a:pPr algn="ctr"/>
            <a:r>
              <a:rPr sz="1260" b="1">
                <a:solidFill>
                  <a:srgbClr val="F5F8FF"/>
                </a:solidFill>
                <a:latin typeface="Arial"/>
              </a:rPr>
              <a:t>sessionStorage.ts</a:t>
            </a:r>
          </a:p>
        </p:txBody>
      </p:sp>
      <p:cxnSp>
        <p:nvCxnSpPr>
          <p:cNvPr id="15" name="Connector 14"/>
          <p:cNvCxnSpPr/>
          <p:nvPr/>
        </p:nvCxnSpPr>
        <p:spPr>
          <a:xfrm flipV="1">
            <a:off x="5257800" y="2724912"/>
            <a:ext cx="822960" cy="1700784"/>
          </a:xfrm>
          <a:prstGeom prst="line">
            <a:avLst/>
          </a:prstGeom>
          <a:ln w="20320">
            <a:solidFill>
              <a:srgbClr val="FACC15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Rounded Rectangle 15"/>
          <p:cNvSpPr/>
          <p:nvPr/>
        </p:nvSpPr>
        <p:spPr>
          <a:xfrm>
            <a:off x="685800" y="4709160"/>
            <a:ext cx="10607040" cy="1143000"/>
          </a:xfrm>
          <a:prstGeom prst="roundRect">
            <a:avLst/>
          </a:prstGeom>
          <a:solidFill>
            <a:srgbClr val="0A162E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685800" y="4709160"/>
            <a:ext cx="10607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9CA3FF"/>
                </a:solidFill>
                <a:latin typeface="Arial"/>
              </a:rPr>
              <a:t>为什么优先看这五个文件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68680" y="5047488"/>
            <a:ext cx="10241280" cy="71323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main.tsx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QueryEngine.ts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query.ts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toolExecution.ts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BashTool.tsx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compact.ts / microCompact.ts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sessionStorage.ts / conversationRecovery.ts</a:t>
            </a:r>
          </a:p>
          <a:p>
            <a:pPr>
              <a:spcAft>
                <a:spcPts val="500"/>
              </a:spcAft>
            </a:pPr>
            <a:r>
              <a:rPr sz="1320" b="0">
                <a:solidFill>
                  <a:srgbClr val="DEE6F4"/>
                </a:solidFill>
                <a:latin typeface="Arial"/>
              </a:rPr>
              <a:t>messages.ts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85800" y="5998464"/>
            <a:ext cx="10607040" cy="530352"/>
          </a:xfrm>
          <a:prstGeom prst="roundRect">
            <a:avLst/>
          </a:prstGeom>
          <a:solidFill>
            <a:srgbClr val="0C1A36"/>
          </a:solidFill>
          <a:ln>
            <a:solidFill>
              <a:srgbClr val="263F6E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ectangle 19"/>
          <p:cNvSpPr/>
          <p:nvPr/>
        </p:nvSpPr>
        <p:spPr>
          <a:xfrm>
            <a:off x="685800" y="5998464"/>
            <a:ext cx="10607040" cy="292608"/>
          </a:xfrm>
          <a:prstGeom prst="rect">
            <a:avLst/>
          </a:prstGeom>
          <a:solidFill>
            <a:srgbClr val="0E1F3F"/>
          </a:solidFill>
          <a:ln>
            <a:noFill/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25400" bIns="25400" lIns="63500" rIns="63500"/>
          <a:lstStyle/>
          <a:p>
            <a:pPr algn="ctr"/>
            <a:r>
              <a:rPr sz="1100" b="1">
                <a:solidFill>
                  <a:srgbClr val="FACC15"/>
                </a:solidFill>
                <a:latin typeface="Arial"/>
              </a:rPr>
              <a:t>调研结论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868680" y="6208776"/>
            <a:ext cx="10241280" cy="164592"/>
          </a:xfrm>
          <a:prstGeom prst="rect">
            <a:avLst/>
          </a:prstGeom>
          <a:noFill/>
        </p:spPr>
        <p:txBody>
          <a:bodyPr wrap="square" tIns="50800" bIns="50800" lIns="101600" rIns="101600" anchor="t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DEE6F4"/>
                </a:solidFill>
                <a:latin typeface="Arial"/>
              </a:rPr>
              <a:t>这组文件足以支撑一次高质量的 Claude Code 源码走读。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48640" y="6446520"/>
            <a:ext cx="11064240" cy="182880"/>
          </a:xfrm>
          <a:prstGeom prst="rect">
            <a:avLst/>
          </a:prstGeom>
          <a:noFill/>
        </p:spPr>
        <p:txBody>
          <a:bodyPr wrap="square" tIns="0" bIns="0" lIns="0" rIns="0" anchor="t">
            <a:spAutoFit/>
          </a:bodyPr>
          <a:lstStyle/>
          <a:p>
            <a:r>
              <a:rPr sz="1000" b="0">
                <a:solidFill>
                  <a:srgbClr val="99ABC4"/>
                </a:solidFill>
                <a:latin typeface="Arial"/>
              </a:rPr>
              <a:t>Claude Code 源码调研</a:t>
            </a:r>
          </a:p>
          <a:p>
            <a:pPr algn="r"/>
            <a:r>
              <a:rPr sz="950" b="0">
                <a:solidFill>
                  <a:srgbClr val="99ABC4"/>
                </a:solidFill>
                <a:latin typeface="Arial"/>
              </a:rPr>
              <a:t>代码走读概略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