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607040" cy="7772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PingFang SC"/>
              </a:rPr>
              <a:t>Claude Code Source 代码走读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417320"/>
            <a:ext cx="10241280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PingFang SC"/>
              </a:rPr>
              <a:t>基于源码的 runtime 架构、主调用链与关键设计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240280"/>
            <a:ext cx="10332720" cy="1828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900" b="0">
                <a:solidFill>
                  <a:srgbClr val="FFFFFF"/>
                </a:solidFill>
                <a:latin typeface="PingFang SC"/>
              </a:rPr>
              <a:t>重点：turn loop、compact、tool execution、task runtime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FFFFFF"/>
                </a:solidFill>
                <a:latin typeface="PingFang SC"/>
              </a:rPr>
              <a:t>目标：先建立整体模型，再进入关键代码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607040" cy="7772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/>
            <a:r>
              <a:rPr sz="2600" b="1">
                <a:solidFill>
                  <a:srgbClr val="0B1F44"/>
                </a:solidFill>
                <a:latin typeface="PingFang SC"/>
              </a:rPr>
              <a:t>分享目录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143000"/>
            <a:ext cx="2194560" cy="36576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4389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这份仓库本质上是什么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架构总览与主执行链路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turn loop 与 conversation host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recovery、compact 与 context 装配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tool execution、task runtime 与 mailbox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认证、策略、扩展系统与可观测性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最后总结与阅读建议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607040" cy="7772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PingFang SC"/>
              </a:rPr>
              <a:t>一、先建立整体模型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417320"/>
            <a:ext cx="10241280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PingFang SC"/>
              </a:rPr>
              <a:t>先回答：这份仓库到底是什么，以及应该先从哪几层开始读。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607040" cy="7772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/>
            <a:r>
              <a:rPr sz="2600" b="1">
                <a:solidFill>
                  <a:srgbClr val="0B1F44"/>
                </a:solidFill>
                <a:latin typeface="PingFang SC"/>
              </a:rPr>
              <a:t>这份仓库本质上是什么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143000"/>
            <a:ext cx="2194560" cy="36576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4389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不是简单聊天 CLI，也不是薄薄的 SDK demo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更接近一个完整的本地 agent runtime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核心包括：CLI/TUI、会话状态、turn loop、认证/API、策略控制、扩展系统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阅读时不要只把它理解成“调用模型 API 的壳”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607040" cy="7772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/>
            <a:r>
              <a:rPr sz="2600" b="1">
                <a:solidFill>
                  <a:srgbClr val="0B1F44"/>
                </a:solidFill>
                <a:latin typeface="PingFang SC"/>
              </a:rPr>
              <a:t>最值得先记住的入口文件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143000"/>
            <a:ext cx="2194560" cy="36576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4389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main.tsx：总入口与总装配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query.ts：turn loop runtime kernel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QueryEngine.ts：conversation host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Tool.ts：工具协议与 ToolUseContext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tools.ts：工具注册中心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607040" cy="7772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PingFang SC"/>
              </a:rPr>
              <a:t>二、先看主链路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417320"/>
            <a:ext cx="10241280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PingFang SC"/>
              </a:rPr>
              <a:t>从启动到一次完整 turn，先把系统怎么跑起来看清。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607040" cy="7772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/>
            <a:r>
              <a:rPr sz="2600" b="1">
                <a:solidFill>
                  <a:srgbClr val="0B1F44"/>
                </a:solidFill>
                <a:latin typeface="PingFang SC"/>
              </a:rPr>
              <a:t>架构总览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143000"/>
            <a:ext cx="2194560" cy="36576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4389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main.tsx 把系统装起来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query.ts 让系统跑起来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API 层负责模型适配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tools / MCP / plugins / skills 提供能力面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settings / auth / policy 决定约束边界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120640"/>
            <a:ext cx="9875520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1600" b="0">
                <a:solidFill>
                  <a:srgbClr val="475569"/>
                </a:solidFill>
                <a:latin typeface="PingFang SC"/>
              </a:rPr>
              <a:t>一句话：main.tsx 负责装配，query.ts 负责推进，其余模块提供能力、状态和约束。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607040" cy="7772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/>
            <a:r>
              <a:rPr sz="2600" b="1">
                <a:solidFill>
                  <a:srgbClr val="0B1F44"/>
                </a:solidFill>
                <a:latin typeface="PingFang SC"/>
              </a:rPr>
              <a:t>主执行链路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143000"/>
            <a:ext cx="2194560" cy="36576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4389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用户输入进入 main.tsx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构造 commands / tools / app state / QueryEngine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query.ts 发起模型请求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若出现 tool_use，进入 tool orchestration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tool_result 回灌后继续下一轮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120640"/>
            <a:ext cx="9875520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1600" b="0">
                <a:solidFill>
                  <a:srgbClr val="475569"/>
                </a:solidFill>
                <a:latin typeface="PingFang SC"/>
              </a:rPr>
              <a:t>这是一个“模型调用”和“工具调用”反复往返的闭环。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607040" cy="7772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/>
            <a:r>
              <a:rPr sz="2600" b="1">
                <a:solidFill>
                  <a:srgbClr val="0B1F44"/>
                </a:solidFill>
                <a:latin typeface="PingFang SC"/>
              </a:rPr>
              <a:t>启动阶段：先把 runtime surface 装好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143000"/>
            <a:ext cx="2194560" cy="36576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4389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参数解析与认证预热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settings 合并、GrowthBook / telemetry 初始化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remote managed settings 与 policy limits 初始化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commands / tools / MCP / skills 注册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重点不是“启动聊天”，而是把整套运行时表面装配完成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607040" cy="7772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PingFang SC"/>
              </a:rPr>
              <a:t>三、为什么 query.ts 是核心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417320"/>
            <a:ext cx="10241280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PingFang SC"/>
              </a:rPr>
              <a:t>真正把 Claude Code 变成 agent runtime 的，是 turn loop。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607040" cy="7772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/>
            <a:r>
              <a:rPr sz="2600" b="1">
                <a:solidFill>
                  <a:srgbClr val="0B1F44"/>
                </a:solidFill>
                <a:latin typeface="PingFang SC"/>
              </a:rPr>
              <a:t>为什么 query.ts 是核心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143000"/>
            <a:ext cx="2194560" cy="36576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4389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它不是一次 API 调用的包装层，而是 runtime kernel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负责准备 messages、context 治理、模型请求、streaming 输出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负责处理 tool_use / tool_result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负责决定 continue / retry / compact / stop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607040" cy="7772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/>
            <a:r>
              <a:rPr sz="2600" b="1">
                <a:solidFill>
                  <a:srgbClr val="0B1F44"/>
                </a:solidFill>
                <a:latin typeface="PingFang SC"/>
              </a:rPr>
              <a:t>turn loop 的结构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143000"/>
            <a:ext cx="2194560" cy="36576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4389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先做 context 治理：tool result budget、snip、microcompact、collapse、autocompact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再构造 API 请求并接收 streaming 输出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若出现 tool_use，进入工具执行器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tool_result 回写 messages 后，决定是否继续下一轮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因此它更像带 recovery 分支的 state machine，而不是线性 pipeline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607040" cy="7772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/>
            <a:r>
              <a:rPr sz="2600" b="1">
                <a:solidFill>
                  <a:srgbClr val="0B1F44"/>
                </a:solidFill>
                <a:latin typeface="PingFang SC"/>
              </a:rPr>
              <a:t>QueryEngine.ts：conversation host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143000"/>
            <a:ext cx="2194560" cy="36576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4389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不是内核本身，而是会话宿主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负责保持多轮消息历史、聚合 usage、维护 permission denial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持有 readFileState、预落盘 transcript、做 SDK/headless 输出投影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可以简单记成：query.ts 负责一轮怎么跑，QueryEngine.ts 负责一段会话怎么活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607040" cy="7772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PingFang SC"/>
              </a:rPr>
              <a:t>四、长会话为什么还能稳定工作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417320"/>
            <a:ext cx="10241280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PingFang SC"/>
              </a:rPr>
              <a:t>关键不是“回答更聪明”，而是 runtime 如何保住连续性。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607040" cy="7772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/>
            <a:r>
              <a:rPr sz="2600" b="1">
                <a:solidFill>
                  <a:srgbClr val="0B1F44"/>
                </a:solidFill>
                <a:latin typeface="PingFang SC"/>
              </a:rPr>
              <a:t>为什么会话可以恢复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143000"/>
            <a:ext cx="2194560" cy="36576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4389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Claude Code 维护的是可恢复消息链，不只是聊天记录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sessionStorage.ts 负责 durable transcript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conversationRecovery.ts 会过滤坏消息并补 continuation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恢复目标不是忠实回放磁盘内容，而是把系统修回 API 可继续状态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607040" cy="7772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/>
            <a:r>
              <a:rPr sz="2600" b="1">
                <a:solidFill>
                  <a:srgbClr val="0B1F44"/>
                </a:solidFill>
                <a:latin typeface="PingFang SC"/>
              </a:rPr>
              <a:t>为什么大 tool result 不会拖垮上下文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143000"/>
            <a:ext cx="2194560" cy="36576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4389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关键机制是 tool result budget / content replacement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解决的不是“截断输出”，而是“冻结输出命运”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某个 tool_use_id 一旦决定替换，后面必须稳定复用相同 replacement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价值是保护 prompt cache prefix，降低 long-running session 漂移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607040" cy="7772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/>
            <a:r>
              <a:rPr sz="2600" b="1">
                <a:solidFill>
                  <a:srgbClr val="0B1F44"/>
                </a:solidFill>
                <a:latin typeface="PingFang SC"/>
              </a:rPr>
              <a:t>compact：分层整理，而不是一刀切摘要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143000"/>
            <a:ext cx="2194560" cy="36576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4389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运行时至少有 microcompact、snip、context collapse、autocompact、reactive compact、/compact、session memory compact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要按两条轴来理解：主动整理 vs 被动恢复；轻量缩减 vs full compact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full compact 的目标也不是简单摘要，而是重建可继续工作的最小 context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607040" cy="7772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/>
            <a:r>
              <a:rPr sz="2600" b="1">
                <a:solidFill>
                  <a:srgbClr val="0B1F44"/>
                </a:solidFill>
                <a:latin typeface="PingFang SC"/>
              </a:rPr>
              <a:t>compact 后到底保留什么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143000"/>
            <a:ext cx="2194560" cy="36576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4389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compact boundary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summary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messagesToKeep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文件恢复 attachment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plan_mode、invoked_skills、deferred tools / MCP delta、hook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120640"/>
            <a:ext cx="9875520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1600" b="0">
                <a:solidFill>
                  <a:srgbClr val="475569"/>
                </a:solidFill>
                <a:latin typeface="PingFang SC"/>
              </a:rPr>
              <a:t>结论：compact 后不是只剩一段摘要，而是尽量保住当前工作面。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607040" cy="7772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/>
            <a:r>
              <a:rPr sz="2600" b="1">
                <a:solidFill>
                  <a:srgbClr val="0B1F44"/>
                </a:solidFill>
                <a:latin typeface="PingFang SC"/>
              </a:rPr>
              <a:t>Skills 与 attachments 怎么进上下文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143000"/>
            <a:ext cx="2194560" cy="36576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4389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Skills 不是普通文档，而是结构化能力单元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skill 被扫描到只是 capability 可见，真正调用时才把正文展开进 context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attachments.ts 更像 context router，会按 turn 注入 memories、skills、plan_mode、mailbox、delta 等工作面信息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不是所有关键上下文都常驻在 messages 中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607040" cy="7772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PingFang SC"/>
              </a:rPr>
              <a:t>五、执行能力并不只来自模型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417320"/>
            <a:ext cx="10241280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PingFang SC"/>
              </a:rPr>
              <a:t>Claude Code 的执行力来自 tool pipeline 和 async runtime。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607040" cy="7772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/>
            <a:r>
              <a:rPr sz="2600" b="1">
                <a:solidFill>
                  <a:srgbClr val="0B1F44"/>
                </a:solidFill>
                <a:latin typeface="PingFang SC"/>
              </a:rPr>
              <a:t>tool call 不是直接执行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143000"/>
            <a:ext cx="2194560" cy="36576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4389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真实路径不是 findToolByName -&gt; tool.call 这么短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前面还有 schema 校验、validateInput、speculative classifier、pre-tool hooks、permission 决策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后面还有 result block 处理、content replacement、post-tool hooks、attachment/contextModifier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autonomy boundary 在 tool pipeline，而不是 UI 表面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607040" cy="7772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/>
            <a:r>
              <a:rPr sz="2600" b="1">
                <a:solidFill>
                  <a:srgbClr val="0B1F44"/>
                </a:solidFill>
                <a:latin typeface="PingFang SC"/>
              </a:rPr>
              <a:t>task / subagent / mailbox 是异步执行底座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143000"/>
            <a:ext cx="2194560" cy="36576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4389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Task.ts 定义统一 task 类型与生命周期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task/framework.ts 负责注册、轮询、GC、notification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runAgent.ts 负责 subagent、sidechain transcript、metadata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teammateMailbox.ts 提供显式 mailbox 协议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agent / teammate 已经是有 identity、有 transcript、有恢复路径的执行体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607040" cy="7772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/>
            <a:r>
              <a:rPr sz="2600" b="1">
                <a:solidFill>
                  <a:srgbClr val="0B1F44"/>
                </a:solidFill>
                <a:latin typeface="PingFang SC"/>
              </a:rPr>
              <a:t>为什么消息不是“即时打断式”到达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143000"/>
            <a:ext cx="2194560" cy="36576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4389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mailbox 与 pendingMessages 的投递发生在 turn 边界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task-notification 也会在下一轮作为结构化事件进入主会话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这牺牲了一点即时性，但换来了 turn 内状态一致性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因此多 agent 协作更像 actor mailbox，而不是共享同一个 transcript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607040" cy="7772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/>
            <a:r>
              <a:rPr sz="2600" b="1">
                <a:solidFill>
                  <a:srgbClr val="0B1F44"/>
                </a:solidFill>
                <a:latin typeface="PingFang SC"/>
              </a:rPr>
              <a:t>关键状态载体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143000"/>
            <a:ext cx="2194560" cy="36576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4389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messages：turn-local 工作面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transcript / sidechain：durable history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ToolUseContext：工具执行总线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AppState：宿主共享状态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attachments / sidecar artifacts：按需重注入的工作面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120640"/>
            <a:ext cx="9875520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1600" b="0">
                <a:solidFill>
                  <a:srgbClr val="475569"/>
                </a:solidFill>
                <a:latin typeface="PingFang SC"/>
              </a:rPr>
              <a:t>不要把系统简化成“只有消息数组”。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607040" cy="7772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PingFang SC"/>
              </a:rPr>
              <a:t>六、为什么它更像产品化 runtime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417320"/>
            <a:ext cx="10241280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PingFang SC"/>
              </a:rPr>
              <a:t>最后再看控制面、扩展面和可观测性。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607040" cy="7772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/>
            <a:r>
              <a:rPr sz="2600" b="1">
                <a:solidFill>
                  <a:srgbClr val="0B1F44"/>
                </a:solidFill>
                <a:latin typeface="PingFang SC"/>
              </a:rPr>
              <a:t>认证、策略和服务端控制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143000"/>
            <a:ext cx="2194560" cy="36576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4389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服务端负责裁决，客户端负责执行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控制面包括 OAuth / API key、policy_limits、remote managed settings、forceLoginOrgUUID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更准确地说，不是“客户端封用户”，而是“服务端决定，客户端落实”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607040" cy="7772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/>
            <a:r>
              <a:rPr sz="2600" b="1">
                <a:solidFill>
                  <a:srgbClr val="0B1F44"/>
                </a:solidFill>
                <a:latin typeface="PingFang SC"/>
              </a:rPr>
              <a:t>API、Prompt 与扩展系统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143000"/>
            <a:ext cx="2194560" cy="36576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4389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client.ts / claude.ts 不是薄封装，而是多 provider 统一适配层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prompt stack 在这里是一层 control plane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MCP / plugins / commands / skills 都是一级扩展面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这也是为什么它更像完整 runtime，而不是单点功能工具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607040" cy="7772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/>
            <a:r>
              <a:rPr sz="2600" b="1">
                <a:solidFill>
                  <a:srgbClr val="0B1F44"/>
                </a:solidFill>
                <a:latin typeface="PingFang SC"/>
              </a:rPr>
              <a:t>可观测性为什么重要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143000"/>
            <a:ext cx="2194560" cy="36576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4389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queryProfiler.ts：慢在哪个阶段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analyzeContext.ts：上下文是谁吃掉的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promptCacheBreakDetection.ts：cache 为什么断了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没有可观测性，就很难持续优化 harness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607040" cy="7772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PingFang SC"/>
              </a:rPr>
              <a:t>七、给读者的落点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417320"/>
            <a:ext cx="10241280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PingFang SC"/>
              </a:rPr>
              <a:t>最后只保留最应该带走的结论。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554480"/>
            <a:ext cx="4480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205295"/>
                </a:solidFill>
                <a:latin typeface="PingFang SC"/>
              </a:rPr>
              <a:t>从源码提炼的使用建议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965960"/>
            <a:ext cx="4389120" cy="36576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高质量任务描述最好包含：目标、范围、约束、验证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先读相关代码再改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优先复用现有实现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做最小必要改动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验证后如实汇报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1554480"/>
            <a:ext cx="4480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205295"/>
                </a:solidFill>
                <a:latin typeface="PingFang SC"/>
              </a:rPr>
              <a:t>最值得先抓住的三条线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97880" y="1965960"/>
            <a:ext cx="4389120" cy="36576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main.tsx -&gt; query.ts -&gt; tools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settings -&gt; auth -&gt; api client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policy / managed settings -&gt; 本地执行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PingFang SC"/>
              </a:rPr>
              <a:t>先抓主链路，再看扩展面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11480"/>
            <a:ext cx="10607040" cy="7772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/>
            <a:r>
              <a:rPr sz="2600" b="1">
                <a:solidFill>
                  <a:srgbClr val="0B1F44"/>
                </a:solidFill>
                <a:latin typeface="PingFang SC"/>
              </a:rPr>
              <a:t>最后总结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1143000"/>
            <a:ext cx="2194560" cy="36576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607040" cy="7772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PingFang SC"/>
              </a:rPr>
              <a:t>谢谢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417320"/>
            <a:ext cx="10241280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PingFang SC"/>
              </a:rPr>
              <a:t>这份源码最值得看的，不只是功能，而是它已经为长时间工作的 runtime 付过哪些工程账。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