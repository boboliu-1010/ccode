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rial"/>
              </a:rPr>
              <a:t>Claude Code 使用技巧与注意事项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005840"/>
            <a:ext cx="10789920" cy="41148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Arial"/>
              </a:rPr>
              <a:t>从源码反推：怎样用得更稳、更准、更像专业工程协作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4983480" cy="2057400"/>
          </a:xfrm>
          <a:prstGeom prst="roundRect">
            <a:avLst/>
          </a:prstGeom>
          <a:solidFill>
            <a:srgbClr val="0A1224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0800" bIns="50800" lIns="101600" rIns="101600"/>
          <a:lstStyle/>
          <a:p>
            <a:pPr algn="ctr">
              <a:spcAft>
                <a:spcPts val="600"/>
              </a:spcAft>
            </a:pPr>
            <a:r>
              <a:rPr sz="1700" b="0">
                <a:solidFill>
                  <a:srgbClr val="DDE6F4"/>
                </a:solidFill>
                <a:latin typeface="Arial"/>
              </a:rPr>
              <a:t>这份分享回答三个问题：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DDE6F4"/>
                </a:solidFill>
                <a:latin typeface="Arial"/>
              </a:rPr>
              <a:t>1. Claude Code 从工程上到底是什么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DDE6F4"/>
                </a:solidFill>
                <a:latin typeface="Arial"/>
              </a:rPr>
              <a:t>2. 为什么有些提示方式更稳定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DDE6F4"/>
                </a:solidFill>
                <a:latin typeface="Arial"/>
              </a:rPr>
              <a:t>3. 用户应该怎样提需求、控边界、做验证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828800"/>
            <a:ext cx="5074920" cy="2057400"/>
          </a:xfrm>
          <a:prstGeom prst="roundRect">
            <a:avLst/>
          </a:prstGeom>
          <a:solidFill>
            <a:srgbClr val="0A1224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0800" bIns="50800" lIns="101600" rIns="101600"/>
          <a:lstStyle/>
          <a:p>
            <a:pPr algn="ctr">
              <a:spcAft>
                <a:spcPts val="600"/>
              </a:spcAft>
            </a:pPr>
            <a:r>
              <a:rPr sz="1700" b="0">
                <a:solidFill>
                  <a:srgbClr val="DDE6F4"/>
                </a:solidFill>
                <a:latin typeface="Arial"/>
              </a:rPr>
              <a:t>最终目标不是讲功能，而是形成一套可复用的使用方法：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DDE6F4"/>
                </a:solidFill>
                <a:latin typeface="Arial"/>
              </a:rPr>
              <a:t>目标 + 范围 + 约束 + 验证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DDE6F4"/>
                </a:solidFill>
                <a:latin typeface="Arial"/>
              </a:rPr>
              <a:t>先读代码，再做最小改动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DDE6F4"/>
                </a:solidFill>
                <a:latin typeface="Arial"/>
              </a:rPr>
              <a:t>把源码里的默认工作方式转成用户提示词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4251960"/>
            <a:ext cx="1417320" cy="347472"/>
          </a:xfrm>
          <a:prstGeom prst="roundRect">
            <a:avLst/>
          </a:prstGeom>
          <a:solidFill>
            <a:srgbClr val="0C162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50800" rIns="50800"/>
          <a:lstStyle/>
          <a:p>
            <a:pPr algn="ctr"/>
            <a:r>
              <a:rPr sz="1100" b="1">
                <a:solidFill>
                  <a:srgbClr val="38BDF8"/>
                </a:solidFill>
                <a:latin typeface="Arial"/>
              </a:rPr>
              <a:t>源码依据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23160" y="4251960"/>
            <a:ext cx="1645920" cy="347472"/>
          </a:xfrm>
          <a:prstGeom prst="roundRect">
            <a:avLst/>
          </a:prstGeom>
          <a:solidFill>
            <a:srgbClr val="1A1334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50800" rIns="50800"/>
          <a:lstStyle/>
          <a:p>
            <a:pPr algn="ctr"/>
            <a:r>
              <a:rPr sz="1100" b="1">
                <a:solidFill>
                  <a:srgbClr val="A78BFA"/>
                </a:solidFill>
                <a:latin typeface="Arial"/>
              </a:rPr>
              <a:t>架构视角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4251960"/>
            <a:ext cx="1600200" cy="347472"/>
          </a:xfrm>
          <a:prstGeom prst="roundRect">
            <a:avLst/>
          </a:prstGeom>
          <a:solidFill>
            <a:srgbClr val="0C162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50800" rIns="50800"/>
          <a:lstStyle/>
          <a:p>
            <a:pPr algn="ctr"/>
            <a:r>
              <a:rPr sz="1100" b="1">
                <a:solidFill>
                  <a:srgbClr val="38BDF8"/>
                </a:solidFill>
                <a:latin typeface="Arial"/>
              </a:rPr>
              <a:t>使用方法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4251960"/>
            <a:ext cx="1783080" cy="347472"/>
          </a:xfrm>
          <a:prstGeom prst="roundRect">
            <a:avLst/>
          </a:prstGeom>
          <a:solidFill>
            <a:srgbClr val="1A1334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50800" rIns="50800"/>
          <a:lstStyle/>
          <a:p>
            <a:pPr algn="ctr"/>
            <a:r>
              <a:rPr sz="1100" b="1">
                <a:solidFill>
                  <a:srgbClr val="A78BFA"/>
                </a:solidFill>
                <a:latin typeface="Arial"/>
              </a:rPr>
              <a:t>提示词技巧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4251960"/>
            <a:ext cx="1645920" cy="347472"/>
          </a:xfrm>
          <a:prstGeom prst="roundRect">
            <a:avLst/>
          </a:prstGeom>
          <a:solidFill>
            <a:srgbClr val="0C162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50800" rIns="50800"/>
          <a:lstStyle/>
          <a:p>
            <a:pPr algn="ctr"/>
            <a:r>
              <a:rPr sz="1100" b="1">
                <a:solidFill>
                  <a:srgbClr val="38BDF8"/>
                </a:solidFill>
                <a:latin typeface="Arial"/>
              </a:rPr>
              <a:t>风险边界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892040"/>
            <a:ext cx="10378440" cy="713232"/>
          </a:xfrm>
          <a:prstGeom prst="roundRect">
            <a:avLst/>
          </a:prstGeom>
          <a:solidFill>
            <a:srgbClr val="080F21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0800" bIns="50800" lIns="101600" rIns="101600"/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DDE6F4"/>
                </a:solidFill>
                <a:latin typeface="Arial"/>
              </a:rPr>
              <a:t>核心判断：Claude Code 不是自由聊天助手，而是一个围绕 Prompt Stack、Turn Loop 和 Tool Pipeline 运行的 terminal agent runtime。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r>
              <a:rPr sz="2400" b="1">
                <a:solidFill>
                  <a:srgbClr val="F4F7FF"/>
                </a:solidFill>
                <a:latin typeface="Arial"/>
              </a:rPr>
              <a:t>结构图：Claude Code 的主执行链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005840"/>
            <a:ext cx="10789920" cy="41148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r>
              <a:rPr sz="1400" b="0">
                <a:solidFill>
                  <a:srgbClr val="899CBE"/>
                </a:solidFill>
                <a:latin typeface="Arial"/>
              </a:rPr>
              <a:t>用最少的层说明系统是怎么跑起来的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2194560" cy="1828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965960"/>
            <a:ext cx="1828800" cy="1325880"/>
          </a:xfrm>
          <a:prstGeom prst="roundRect">
            <a:avLst/>
          </a:prstGeom>
          <a:solidFill>
            <a:srgbClr val="091226"/>
          </a:solidFill>
          <a:ln w="228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01600" bIns="101600" lIns="152400" rIns="152400"/>
          <a:lstStyle/>
          <a:p>
            <a:pPr algn="ctr"/>
            <a:r>
              <a:rPr sz="2000" b="1">
                <a:solidFill>
                  <a:srgbClr val="38BDF8"/>
                </a:solidFill>
                <a:latin typeface="Arial"/>
              </a:rPr>
              <a:t>User Prompt</a:t>
            </a:r>
          </a:p>
          <a:p>
            <a:pPr algn="ctr">
              <a:spcBef>
                <a:spcPts val="600"/>
              </a:spcBef>
            </a:pPr>
            <a:r>
              <a:rPr sz="1400" b="0">
                <a:solidFill>
                  <a:srgbClr val="DDE6F4"/>
                </a:solidFill>
                <a:latin typeface="Arial"/>
              </a:rPr>
              <a:t>用户输入
目标 / 范围 / 约束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97480" y="1965960"/>
            <a:ext cx="1965960" cy="1325880"/>
          </a:xfrm>
          <a:prstGeom prst="roundRect">
            <a:avLst/>
          </a:prstGeom>
          <a:solidFill>
            <a:srgbClr val="091226"/>
          </a:solidFill>
          <a:ln w="228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01600" bIns="101600" lIns="152400" rIns="152400"/>
          <a:lstStyle/>
          <a:p>
            <a:pPr algn="ctr"/>
            <a:r>
              <a:rPr sz="2000" b="1">
                <a:solidFill>
                  <a:srgbClr val="38BDF8"/>
                </a:solidFill>
                <a:latin typeface="Arial"/>
              </a:rPr>
              <a:t>Prompt Stack</a:t>
            </a:r>
          </a:p>
          <a:p>
            <a:pPr algn="ctr">
              <a:spcBef>
                <a:spcPts val="600"/>
              </a:spcBef>
            </a:pPr>
            <a:r>
              <a:rPr sz="1400" b="0">
                <a:solidFill>
                  <a:srgbClr val="DDE6F4"/>
                </a:solidFill>
                <a:latin typeface="Arial"/>
              </a:rPr>
              <a:t>提示词栈
默认行为约束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965960"/>
            <a:ext cx="1965960" cy="1325880"/>
          </a:xfrm>
          <a:prstGeom prst="roundRect">
            <a:avLst/>
          </a:prstGeom>
          <a:solidFill>
            <a:srgbClr val="091226"/>
          </a:solidFill>
          <a:ln w="228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01600" bIns="101600" lIns="152400" rIns="152400"/>
          <a:lstStyle/>
          <a:p>
            <a:pPr algn="ctr"/>
            <a:r>
              <a:rPr sz="2000" b="1">
                <a:solidFill>
                  <a:srgbClr val="38BDF8"/>
                </a:solidFill>
                <a:latin typeface="Arial"/>
              </a:rPr>
              <a:t>QueryEngine</a:t>
            </a:r>
          </a:p>
          <a:p>
            <a:pPr algn="ctr">
              <a:spcBef>
                <a:spcPts val="600"/>
              </a:spcBef>
            </a:pPr>
            <a:r>
              <a:rPr sz="1400" b="0">
                <a:solidFill>
                  <a:srgbClr val="DDE6F4"/>
                </a:solidFill>
                <a:latin typeface="Arial"/>
              </a:rPr>
              <a:t>会话宿主
Conversation Host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60920" y="1965960"/>
            <a:ext cx="1965960" cy="1325880"/>
          </a:xfrm>
          <a:prstGeom prst="roundRect">
            <a:avLst/>
          </a:prstGeom>
          <a:solidFill>
            <a:srgbClr val="091226"/>
          </a:solidFill>
          <a:ln w="228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01600" bIns="101600" lIns="152400" rIns="152400"/>
          <a:lstStyle/>
          <a:p>
            <a:pPr algn="ctr"/>
            <a:r>
              <a:rPr sz="2000" b="1">
                <a:solidFill>
                  <a:srgbClr val="38BDF8"/>
                </a:solidFill>
                <a:latin typeface="Arial"/>
              </a:rPr>
              <a:t>query.ts</a:t>
            </a:r>
          </a:p>
          <a:p>
            <a:pPr algn="ctr">
              <a:spcBef>
                <a:spcPts val="600"/>
              </a:spcBef>
            </a:pPr>
            <a:r>
              <a:rPr sz="1400" b="0">
                <a:solidFill>
                  <a:srgbClr val="DDE6F4"/>
                </a:solidFill>
                <a:latin typeface="Arial"/>
              </a:rPr>
              <a:t>轮次循环
Turn Loop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92640" y="1965960"/>
            <a:ext cx="1965960" cy="1325880"/>
          </a:xfrm>
          <a:prstGeom prst="roundRect">
            <a:avLst/>
          </a:prstGeom>
          <a:solidFill>
            <a:srgbClr val="091226"/>
          </a:solidFill>
          <a:ln w="228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01600" bIns="101600" lIns="152400" rIns="152400"/>
          <a:lstStyle/>
          <a:p>
            <a:pPr algn="ctr"/>
            <a:r>
              <a:rPr sz="2000" b="1">
                <a:solidFill>
                  <a:srgbClr val="38BDF8"/>
                </a:solidFill>
                <a:latin typeface="Arial"/>
              </a:rPr>
              <a:t>Tool Pipeline</a:t>
            </a:r>
          </a:p>
          <a:p>
            <a:pPr algn="ctr">
              <a:spcBef>
                <a:spcPts val="600"/>
              </a:spcBef>
            </a:pPr>
            <a:r>
              <a:rPr sz="1400" b="0">
                <a:solidFill>
                  <a:srgbClr val="DDE6F4"/>
                </a:solidFill>
                <a:latin typeface="Arial"/>
              </a:rPr>
              <a:t>工具执行流水线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331720" y="2633472"/>
            <a:ext cx="365760" cy="0"/>
          </a:xfrm>
          <a:prstGeom prst="line">
            <a:avLst/>
          </a:prstGeom>
          <a:ln w="15875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663440" y="2633472"/>
            <a:ext cx="365760" cy="0"/>
          </a:xfrm>
          <a:prstGeom prst="line">
            <a:avLst/>
          </a:prstGeom>
          <a:ln w="15875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995160" y="2633472"/>
            <a:ext cx="365760" cy="0"/>
          </a:xfrm>
          <a:prstGeom prst="line">
            <a:avLst/>
          </a:prstGeom>
          <a:ln w="15875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326880" y="2633472"/>
            <a:ext cx="365760" cy="0"/>
          </a:xfrm>
          <a:prstGeom prst="line">
            <a:avLst/>
          </a:prstGeom>
          <a:ln w="15875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148840" y="4160520"/>
            <a:ext cx="2926080" cy="1280160"/>
          </a:xfrm>
          <a:prstGeom prst="roundRect">
            <a:avLst/>
          </a:prstGeom>
          <a:solidFill>
            <a:srgbClr val="091226"/>
          </a:solidFill>
          <a:ln w="228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01600" bIns="101600" lIns="152400" rIns="152400"/>
          <a:lstStyle/>
          <a:p>
            <a:pPr algn="ctr"/>
            <a:r>
              <a:rPr sz="2000" b="1">
                <a:solidFill>
                  <a:srgbClr val="38BDF8"/>
                </a:solidFill>
                <a:latin typeface="Arial"/>
              </a:rPr>
              <a:t>Tools / Tasks</a:t>
            </a:r>
          </a:p>
          <a:p>
            <a:pPr algn="ctr">
              <a:spcBef>
                <a:spcPts val="600"/>
              </a:spcBef>
            </a:pPr>
            <a:r>
              <a:rPr sz="1400" b="0">
                <a:solidFill>
                  <a:srgbClr val="DDE6F4"/>
                </a:solidFill>
                <a:latin typeface="Arial"/>
              </a:rPr>
              <a:t>Bash / Read / Edit
Subagents / Mailbox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0" y="4160520"/>
            <a:ext cx="2194560" cy="1280160"/>
          </a:xfrm>
          <a:prstGeom prst="roundRect">
            <a:avLst/>
          </a:prstGeom>
          <a:solidFill>
            <a:srgbClr val="091226"/>
          </a:solidFill>
          <a:ln w="228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01600" bIns="101600" lIns="152400" rIns="152400"/>
          <a:lstStyle/>
          <a:p>
            <a:pPr algn="ctr"/>
            <a:r>
              <a:rPr sz="2000" b="1">
                <a:solidFill>
                  <a:srgbClr val="38BDF8"/>
                </a:solidFill>
                <a:latin typeface="Arial"/>
              </a:rPr>
              <a:t>Environment</a:t>
            </a:r>
          </a:p>
          <a:p>
            <a:pPr algn="ctr">
              <a:spcBef>
                <a:spcPts val="600"/>
              </a:spcBef>
            </a:pPr>
            <a:r>
              <a:rPr sz="1400" b="0">
                <a:solidFill>
                  <a:srgbClr val="DDE6F4"/>
                </a:solidFill>
                <a:latin typeface="Arial"/>
              </a:rPr>
              <a:t>Filesystem / Shell
MCP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4160520"/>
            <a:ext cx="2743200" cy="1280160"/>
          </a:xfrm>
          <a:prstGeom prst="roundRect">
            <a:avLst/>
          </a:prstGeom>
          <a:solidFill>
            <a:srgbClr val="091226"/>
          </a:solidFill>
          <a:ln w="228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01600" bIns="101600" lIns="152400" rIns="152400"/>
          <a:lstStyle/>
          <a:p>
            <a:pPr algn="ctr"/>
            <a:r>
              <a:rPr sz="2000" b="1">
                <a:solidFill>
                  <a:srgbClr val="38BDF8"/>
                </a:solidFill>
                <a:latin typeface="Arial"/>
              </a:rPr>
              <a:t>Control Plane</a:t>
            </a:r>
          </a:p>
          <a:p>
            <a:pPr algn="ctr">
              <a:spcBef>
                <a:spcPts val="600"/>
              </a:spcBef>
            </a:pPr>
            <a:r>
              <a:rPr sz="1400" b="0">
                <a:solidFill>
                  <a:srgbClr val="DDE6F4"/>
                </a:solidFill>
                <a:latin typeface="Arial"/>
              </a:rPr>
              <a:t>Settings / Auth / Policy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9281160" y="3291840"/>
            <a:ext cx="1371600" cy="868680"/>
          </a:xfrm>
          <a:prstGeom prst="line">
            <a:avLst/>
          </a:prstGeom>
          <a:ln w="15875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074920" y="4800600"/>
            <a:ext cx="411480" cy="0"/>
          </a:xfrm>
          <a:prstGeom prst="line">
            <a:avLst/>
          </a:prstGeom>
          <a:ln w="15875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680960" y="4800600"/>
            <a:ext cx="411480" cy="0"/>
          </a:xfrm>
          <a:prstGeom prst="line">
            <a:avLst/>
          </a:prstGeom>
          <a:ln w="15875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85800" y="5806440"/>
            <a:ext cx="10972800" cy="384048"/>
          </a:xfrm>
          <a:prstGeom prst="roundRect">
            <a:avLst/>
          </a:prstGeom>
          <a:solidFill>
            <a:srgbClr val="0C162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0800" bIns="50800" lIns="101600" rIns="101600"/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DDE6F4"/>
                </a:solidFill>
                <a:latin typeface="Arial"/>
              </a:rPr>
              <a:t>重点：用户技巧之所以有效，是因为它们会直接影响 Prompt Stack、Turn Loop 和 Tool Pipeline 这条主链。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r>
              <a:rPr sz="2400" b="1">
                <a:solidFill>
                  <a:srgbClr val="F4F7FF"/>
                </a:solidFill>
                <a:latin typeface="Arial"/>
              </a:rPr>
              <a:t>Claude Code 不是什么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98448"/>
            <a:ext cx="2194560" cy="1828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1536192"/>
            <a:ext cx="10972800" cy="658368"/>
          </a:xfrm>
          <a:prstGeom prst="roundRect">
            <a:avLst/>
          </a:prstGeom>
          <a:solidFill>
            <a:srgbClr val="0C162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0800" bIns="50800" lIns="101600" rIns="101600"/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DDE6F4"/>
                </a:solidFill>
                <a:latin typeface="Arial"/>
              </a:rPr>
              <a:t>Claude Code 不是自由聊天助手，而是默认按 software engineering tasks（软件工程任务）来理解用户请求。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450592"/>
            <a:ext cx="5577840" cy="306324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DDE6F4"/>
                </a:solidFill>
                <a:latin typeface="Arial"/>
              </a:rPr>
              <a:t>不是“随便说一句就稳定帮你把工程活干好”的黑盒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DDE6F4"/>
                </a:solidFill>
                <a:latin typeface="Arial"/>
              </a:rPr>
              <a:t>更像 software engineering agent（软件工程代理）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DDE6F4"/>
                </a:solidFill>
                <a:latin typeface="Arial"/>
              </a:rPr>
              <a:t>所以输入越工程化，它通常越稳定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2468880"/>
            <a:ext cx="4800600" cy="2468880"/>
          </a:xfrm>
          <a:prstGeom prst="roundRect">
            <a:avLst/>
          </a:prstGeom>
          <a:solidFill>
            <a:srgbClr val="060C1C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03200" bIns="76200" lIns="127000" rIns="127000"/>
          <a:lstStyle/>
          <a:p>
            <a:pPr algn="ctr"/>
            <a:r>
              <a:rPr sz="1250" b="0">
                <a:solidFill>
                  <a:srgbClr val="C5F4FF"/>
                </a:solidFill>
                <a:latin typeface="Courier New"/>
              </a:rPr>
              <a:t>The user will primarily request you to perform software engineering tasks.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37960" y="2468880"/>
            <a:ext cx="4800600" cy="256032"/>
          </a:xfrm>
          <a:prstGeom prst="rect">
            <a:avLst/>
          </a:prstGeom>
          <a:solidFill>
            <a:srgbClr val="0F1830"/>
          </a:solidFill>
          <a:ln>
            <a:solidFill>
              <a:srgbClr val="0F1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76200" rIns="76200"/>
          <a:lstStyle/>
          <a:p>
            <a:pPr algn="ctr"/>
            <a:r>
              <a:rPr sz="1000" b="1">
                <a:solidFill>
                  <a:srgbClr val="38BDF8"/>
                </a:solidFill>
                <a:latin typeface="Courier New"/>
              </a:rPr>
              <a:t>源码提示词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108192"/>
            <a:ext cx="10881360" cy="320040"/>
          </a:xfrm>
          <a:prstGeom prst="rect">
            <a:avLst/>
          </a:prstGeom>
          <a:noFill/>
        </p:spPr>
        <p:txBody>
          <a:bodyPr wrap="square" tIns="12700" bIns="12700" lIns="12700" rIns="12700" anchor="t">
            <a:spAutoFit/>
          </a:bodyPr>
          <a:lstStyle/>
          <a:p>
            <a:pPr algn="l"/>
            <a:r>
              <a:rPr sz="1100" b="0">
                <a:solidFill>
                  <a:srgbClr val="899CBE"/>
                </a:solidFill>
                <a:latin typeface="Arial"/>
              </a:rPr>
              <a:t>源码依据：src/constants/prompts.ts#L221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r>
              <a:rPr sz="2400" b="1">
                <a:solidFill>
                  <a:srgbClr val="F4F7FF"/>
                </a:solidFill>
                <a:latin typeface="Arial"/>
              </a:rPr>
              <a:t>从源码看：Claude Code 是什么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005840"/>
            <a:ext cx="10789920" cy="41148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r>
              <a:rPr sz="1400" b="0">
                <a:solidFill>
                  <a:srgbClr val="899CBE"/>
                </a:solidFill>
                <a:latin typeface="Arial"/>
              </a:rPr>
              <a:t>一个 terminal agent runtime（终端代理运行时）的最小架构图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2194560" cy="1828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691640"/>
            <a:ext cx="2011680" cy="914400"/>
          </a:xfrm>
          <a:prstGeom prst="roundRect">
            <a:avLst/>
          </a:prstGeom>
          <a:solidFill>
            <a:srgbClr val="091226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691640"/>
            <a:ext cx="2011680" cy="347472"/>
          </a:xfrm>
          <a:prstGeom prst="rect">
            <a:avLst/>
          </a:prstGeom>
          <a:solidFill>
            <a:srgbClr val="0F1F3C"/>
          </a:solidFill>
          <a:ln>
            <a:solidFill>
              <a:srgbClr val="0F1F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76200" rIns="76200"/>
          <a:lstStyle/>
          <a:p>
            <a:pPr algn="ctr"/>
            <a:r>
              <a:rPr sz="1200" b="1">
                <a:solidFill>
                  <a:srgbClr val="38BDF8"/>
                </a:solidFill>
                <a:latin typeface="Arial"/>
              </a:rPr>
              <a:t>入口层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093976"/>
            <a:ext cx="1865376" cy="45720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DDE6F4"/>
                </a:solidFill>
                <a:latin typeface="Arial"/>
              </a:rPr>
              <a:t>main.tsx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DDE6F4"/>
                </a:solidFill>
                <a:latin typeface="Arial"/>
              </a:rPr>
              <a:t>bootstrap / assembly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54680" y="1691640"/>
            <a:ext cx="2194560" cy="914400"/>
          </a:xfrm>
          <a:prstGeom prst="roundRect">
            <a:avLst/>
          </a:prstGeom>
          <a:solidFill>
            <a:srgbClr val="091226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154680" y="1691640"/>
            <a:ext cx="2194560" cy="347472"/>
          </a:xfrm>
          <a:prstGeom prst="rect">
            <a:avLst/>
          </a:prstGeom>
          <a:solidFill>
            <a:srgbClr val="0F1F3C"/>
          </a:solidFill>
          <a:ln>
            <a:solidFill>
              <a:srgbClr val="0F1F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76200" rIns="76200"/>
          <a:lstStyle/>
          <a:p>
            <a:pPr algn="ctr"/>
            <a:r>
              <a:rPr sz="1200" b="1">
                <a:solidFill>
                  <a:srgbClr val="38BDF8"/>
                </a:solidFill>
                <a:latin typeface="Arial"/>
              </a:rPr>
              <a:t>会话层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27832" y="2093976"/>
            <a:ext cx="2048255" cy="45720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DDE6F4"/>
                </a:solidFill>
                <a:latin typeface="Arial"/>
              </a:rPr>
              <a:t>QueryEngine.ts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DDE6F4"/>
                </a:solidFill>
                <a:latin typeface="Arial"/>
              </a:rPr>
              <a:t>conversation host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5000" y="1691640"/>
            <a:ext cx="2194560" cy="914400"/>
          </a:xfrm>
          <a:prstGeom prst="roundRect">
            <a:avLst/>
          </a:prstGeom>
          <a:solidFill>
            <a:srgbClr val="091226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15000" y="1691640"/>
            <a:ext cx="2194560" cy="347472"/>
          </a:xfrm>
          <a:prstGeom prst="rect">
            <a:avLst/>
          </a:prstGeom>
          <a:solidFill>
            <a:srgbClr val="0F1F3C"/>
          </a:solidFill>
          <a:ln>
            <a:solidFill>
              <a:srgbClr val="0F1F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76200" rIns="76200"/>
          <a:lstStyle/>
          <a:p>
            <a:pPr algn="ctr"/>
            <a:r>
              <a:rPr sz="1200" b="1">
                <a:solidFill>
                  <a:srgbClr val="38BDF8"/>
                </a:solidFill>
                <a:latin typeface="Arial"/>
              </a:rPr>
              <a:t>执行层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88152" y="2093976"/>
            <a:ext cx="2048255" cy="45720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DDE6F4"/>
                </a:solidFill>
                <a:latin typeface="Arial"/>
              </a:rPr>
              <a:t>query.ts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DDE6F4"/>
                </a:solidFill>
                <a:latin typeface="Arial"/>
              </a:rPr>
              <a:t>turn loop / runtime kernel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691640"/>
            <a:ext cx="2834640" cy="914400"/>
          </a:xfrm>
          <a:prstGeom prst="roundRect">
            <a:avLst/>
          </a:prstGeom>
          <a:solidFill>
            <a:srgbClr val="091226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75320" y="1691640"/>
            <a:ext cx="2834640" cy="347472"/>
          </a:xfrm>
          <a:prstGeom prst="rect">
            <a:avLst/>
          </a:prstGeom>
          <a:solidFill>
            <a:srgbClr val="0F1F3C"/>
          </a:solidFill>
          <a:ln>
            <a:solidFill>
              <a:srgbClr val="0F1F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76200" rIns="76200"/>
          <a:lstStyle/>
          <a:p>
            <a:pPr algn="ctr"/>
            <a:r>
              <a:rPr sz="1200" b="1">
                <a:solidFill>
                  <a:srgbClr val="38BDF8"/>
                </a:solidFill>
                <a:latin typeface="Arial"/>
              </a:rPr>
              <a:t>工具执行层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8472" y="2093976"/>
            <a:ext cx="2688336" cy="45720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DDE6F4"/>
                </a:solidFill>
                <a:latin typeface="Arial"/>
              </a:rPr>
              <a:t>toolExecution.ts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DDE6F4"/>
                </a:solidFill>
                <a:latin typeface="Arial"/>
              </a:rPr>
              <a:t>tool pipeline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554480" y="3337560"/>
            <a:ext cx="2926080" cy="1051560"/>
          </a:xfrm>
          <a:prstGeom prst="roundRect">
            <a:avLst/>
          </a:prstGeom>
          <a:solidFill>
            <a:srgbClr val="091226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554480" y="3337560"/>
            <a:ext cx="2926080" cy="347472"/>
          </a:xfrm>
          <a:prstGeom prst="rect">
            <a:avLst/>
          </a:prstGeom>
          <a:solidFill>
            <a:srgbClr val="0F1F3C"/>
          </a:solidFill>
          <a:ln>
            <a:solidFill>
              <a:srgbClr val="0F1F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76200" rIns="76200"/>
          <a:lstStyle/>
          <a:p>
            <a:pPr algn="ctr"/>
            <a:r>
              <a:rPr sz="1200" b="1">
                <a:solidFill>
                  <a:srgbClr val="38BDF8"/>
                </a:solidFill>
                <a:latin typeface="Arial"/>
              </a:rPr>
              <a:t>能力面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3739896"/>
            <a:ext cx="2779776" cy="594359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DDE6F4"/>
                </a:solidFill>
                <a:latin typeface="Arial"/>
              </a:rPr>
              <a:t>Tools / Bash / Read / Edit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DDE6F4"/>
                </a:solidFill>
                <a:latin typeface="Arial"/>
              </a:rPr>
              <a:t>Tasks / Subagents / Mailbox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92040" y="3337560"/>
            <a:ext cx="2240280" cy="1051560"/>
          </a:xfrm>
          <a:prstGeom prst="roundRect">
            <a:avLst/>
          </a:prstGeom>
          <a:solidFill>
            <a:srgbClr val="091226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892040" y="3337560"/>
            <a:ext cx="2240280" cy="347472"/>
          </a:xfrm>
          <a:prstGeom prst="rect">
            <a:avLst/>
          </a:prstGeom>
          <a:solidFill>
            <a:srgbClr val="0F1F3C"/>
          </a:solidFill>
          <a:ln>
            <a:solidFill>
              <a:srgbClr val="0F1F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76200" rIns="76200"/>
          <a:lstStyle/>
          <a:p>
            <a:pPr algn="ctr"/>
            <a:r>
              <a:rPr sz="1200" b="1">
                <a:solidFill>
                  <a:srgbClr val="38BDF8"/>
                </a:solidFill>
                <a:latin typeface="Arial"/>
              </a:rPr>
              <a:t>执行环境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65192" y="3739896"/>
            <a:ext cx="2093976" cy="594359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DDE6F4"/>
                </a:solidFill>
                <a:latin typeface="Arial"/>
              </a:rPr>
              <a:t>Filesystem / Shell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DDE6F4"/>
                </a:solidFill>
                <a:latin typeface="Arial"/>
              </a:rPr>
              <a:t>MCP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0" y="3337560"/>
            <a:ext cx="2926080" cy="1051560"/>
          </a:xfrm>
          <a:prstGeom prst="roundRect">
            <a:avLst/>
          </a:prstGeom>
          <a:solidFill>
            <a:srgbClr val="091226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52360" y="3337560"/>
            <a:ext cx="2926080" cy="347472"/>
          </a:xfrm>
          <a:prstGeom prst="rect">
            <a:avLst/>
          </a:prstGeom>
          <a:solidFill>
            <a:srgbClr val="0F1F3C"/>
          </a:solidFill>
          <a:ln>
            <a:solidFill>
              <a:srgbClr val="0F1F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76200" rIns="76200"/>
          <a:lstStyle/>
          <a:p>
            <a:pPr algn="ctr"/>
            <a:r>
              <a:rPr sz="1200" b="1">
                <a:solidFill>
                  <a:srgbClr val="38BDF8"/>
                </a:solidFill>
                <a:latin typeface="Arial"/>
              </a:rPr>
              <a:t>控制面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25512" y="3739896"/>
            <a:ext cx="2779776" cy="594359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DDE6F4"/>
                </a:solidFill>
                <a:latin typeface="Arial"/>
              </a:rPr>
              <a:t>Settings / Auth / Policy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DDE6F4"/>
                </a:solidFill>
                <a:latin typeface="Arial"/>
              </a:rPr>
              <a:t>Prompt / Permissions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788920" y="2148840"/>
            <a:ext cx="365760" cy="0"/>
          </a:xfrm>
          <a:prstGeom prst="line">
            <a:avLst/>
          </a:prstGeom>
          <a:ln w="15875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349240" y="2148840"/>
            <a:ext cx="365760" cy="0"/>
          </a:xfrm>
          <a:prstGeom prst="line">
            <a:avLst/>
          </a:prstGeom>
          <a:ln w="15875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909560" y="2148840"/>
            <a:ext cx="365760" cy="0"/>
          </a:xfrm>
          <a:prstGeom prst="line">
            <a:avLst/>
          </a:prstGeom>
          <a:ln w="15875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8915400" y="2606040"/>
            <a:ext cx="777240" cy="731520"/>
          </a:xfrm>
          <a:prstGeom prst="line">
            <a:avLst/>
          </a:prstGeom>
          <a:ln w="15875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132320" y="3858768"/>
            <a:ext cx="320040" cy="0"/>
          </a:xfrm>
          <a:prstGeom prst="line">
            <a:avLst/>
          </a:prstGeom>
          <a:ln w="15875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480560" y="3858768"/>
            <a:ext cx="411480" cy="0"/>
          </a:xfrm>
          <a:prstGeom prst="line">
            <a:avLst/>
          </a:prstGeom>
          <a:ln w="15875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1234440" y="4892040"/>
            <a:ext cx="9738360" cy="685800"/>
          </a:xfrm>
          <a:prstGeom prst="roundRect">
            <a:avLst/>
          </a:prstGeom>
          <a:solidFill>
            <a:srgbClr val="0C162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0800" bIns="50800" lIns="101600" rIns="101600"/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DDE6F4"/>
                </a:solidFill>
                <a:latin typeface="Arial"/>
              </a:rPr>
              <a:t>一句话：Claude Code 不是“模型 API + 终端壳”，而是由会话层、轮次循环、工具执行层和控制面组成的本地代理运行时。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108192"/>
            <a:ext cx="10881360" cy="320040"/>
          </a:xfrm>
          <a:prstGeom prst="rect">
            <a:avLst/>
          </a:prstGeom>
          <a:noFill/>
        </p:spPr>
        <p:txBody>
          <a:bodyPr wrap="square" tIns="12700" bIns="12700" lIns="12700" rIns="12700" anchor="t">
            <a:spAutoFit/>
          </a:bodyPr>
          <a:lstStyle/>
          <a:p>
            <a:pPr algn="l"/>
            <a:r>
              <a:rPr sz="1100" b="0">
                <a:solidFill>
                  <a:srgbClr val="899CBE"/>
                </a:solidFill>
                <a:latin typeface="Arial"/>
              </a:rPr>
              <a:t>关键文件：main.tsx / QueryEngine.ts / query.ts / toolExecution.ts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r>
              <a:rPr sz="2400" b="1">
                <a:solidFill>
                  <a:srgbClr val="F4F7FF"/>
                </a:solidFill>
                <a:latin typeface="Arial"/>
              </a:rPr>
              <a:t>时序图：一次请求如何流过 Claude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005840"/>
            <a:ext cx="10789920" cy="41148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r>
              <a:rPr sz="1400" b="0">
                <a:solidFill>
                  <a:srgbClr val="899CBE"/>
                </a:solidFill>
                <a:latin typeface="Arial"/>
              </a:rPr>
              <a:t>用一条 request → tool → result 链解释用户提示词为什么有效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2194560" cy="1828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572768"/>
            <a:ext cx="1508760" cy="749808"/>
          </a:xfrm>
          <a:prstGeom prst="roundRect">
            <a:avLst/>
          </a:prstGeom>
          <a:solidFill>
            <a:srgbClr val="091226"/>
          </a:solidFill>
          <a:ln w="228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01600" bIns="101600" lIns="152400" rIns="152400"/>
          <a:lstStyle/>
          <a:p>
            <a:pPr algn="ctr"/>
            <a:r>
              <a:rPr sz="2000" b="1">
                <a:solidFill>
                  <a:srgbClr val="38BDF8"/>
                </a:solidFill>
                <a:latin typeface="Arial"/>
              </a:rPr>
              <a:t>User</a:t>
            </a:r>
          </a:p>
          <a:p>
            <a:pPr algn="ctr">
              <a:spcBef>
                <a:spcPts val="600"/>
              </a:spcBef>
            </a:pPr>
            <a:r>
              <a:rPr sz="1400" b="0">
                <a:solidFill>
                  <a:srgbClr val="DDE6F4"/>
                </a:solidFill>
                <a:latin typeface="Arial"/>
              </a:rPr>
              <a:t/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68780" y="2322576"/>
            <a:ext cx="0" cy="3163824"/>
          </a:xfrm>
          <a:prstGeom prst="line">
            <a:avLst/>
          </a:prstGeom>
          <a:ln w="15240">
            <a:solidFill>
              <a:srgbClr val="1928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063240" y="1572768"/>
            <a:ext cx="1508760" cy="749808"/>
          </a:xfrm>
          <a:prstGeom prst="roundRect">
            <a:avLst/>
          </a:prstGeom>
          <a:solidFill>
            <a:srgbClr val="091226"/>
          </a:solidFill>
          <a:ln w="228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01600" bIns="101600" lIns="152400" rIns="152400"/>
          <a:lstStyle/>
          <a:p>
            <a:pPr algn="ctr"/>
            <a:r>
              <a:rPr sz="2000" b="1">
                <a:solidFill>
                  <a:srgbClr val="38BDF8"/>
                </a:solidFill>
                <a:latin typeface="Arial"/>
              </a:rPr>
              <a:t>Prompt Stack</a:t>
            </a:r>
          </a:p>
          <a:p>
            <a:pPr algn="ctr">
              <a:spcBef>
                <a:spcPts val="600"/>
              </a:spcBef>
            </a:pPr>
            <a:r>
              <a:rPr sz="1400" b="0">
                <a:solidFill>
                  <a:srgbClr val="DDE6F4"/>
                </a:solidFill>
                <a:latin typeface="Arial"/>
              </a:rPr>
              <a:t/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817620" y="2322576"/>
            <a:ext cx="0" cy="3163824"/>
          </a:xfrm>
          <a:prstGeom prst="line">
            <a:avLst/>
          </a:prstGeom>
          <a:ln w="15240">
            <a:solidFill>
              <a:srgbClr val="1928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212080" y="1572768"/>
            <a:ext cx="1508760" cy="749808"/>
          </a:xfrm>
          <a:prstGeom prst="roundRect">
            <a:avLst/>
          </a:prstGeom>
          <a:solidFill>
            <a:srgbClr val="091226"/>
          </a:solidFill>
          <a:ln w="228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01600" bIns="101600" lIns="152400" rIns="152400"/>
          <a:lstStyle/>
          <a:p>
            <a:pPr algn="ctr"/>
            <a:r>
              <a:rPr sz="2000" b="1">
                <a:solidFill>
                  <a:srgbClr val="38BDF8"/>
                </a:solidFill>
                <a:latin typeface="Arial"/>
              </a:rPr>
              <a:t>QueryEngine</a:t>
            </a:r>
          </a:p>
          <a:p>
            <a:pPr algn="ctr">
              <a:spcBef>
                <a:spcPts val="600"/>
              </a:spcBef>
            </a:pPr>
            <a:r>
              <a:rPr sz="1400" b="0">
                <a:solidFill>
                  <a:srgbClr val="DDE6F4"/>
                </a:solidFill>
                <a:latin typeface="Arial"/>
              </a:rPr>
              <a:t/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66460" y="2322576"/>
            <a:ext cx="0" cy="3163824"/>
          </a:xfrm>
          <a:prstGeom prst="line">
            <a:avLst/>
          </a:prstGeom>
          <a:ln w="15240">
            <a:solidFill>
              <a:srgbClr val="1928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360920" y="1572768"/>
            <a:ext cx="1508760" cy="749808"/>
          </a:xfrm>
          <a:prstGeom prst="roundRect">
            <a:avLst/>
          </a:prstGeom>
          <a:solidFill>
            <a:srgbClr val="091226"/>
          </a:solidFill>
          <a:ln w="228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01600" bIns="101600" lIns="152400" rIns="152400"/>
          <a:lstStyle/>
          <a:p>
            <a:pPr algn="ctr"/>
            <a:r>
              <a:rPr sz="2000" b="1">
                <a:solidFill>
                  <a:srgbClr val="38BDF8"/>
                </a:solidFill>
                <a:latin typeface="Arial"/>
              </a:rPr>
              <a:t>query.ts</a:t>
            </a:r>
          </a:p>
          <a:p>
            <a:pPr algn="ctr">
              <a:spcBef>
                <a:spcPts val="600"/>
              </a:spcBef>
            </a:pPr>
            <a:r>
              <a:rPr sz="1400" b="0">
                <a:solidFill>
                  <a:srgbClr val="DDE6F4"/>
                </a:solidFill>
                <a:latin typeface="Arial"/>
              </a:rPr>
              <a:t/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115300" y="2322576"/>
            <a:ext cx="0" cy="3163824"/>
          </a:xfrm>
          <a:prstGeom prst="line">
            <a:avLst/>
          </a:prstGeom>
          <a:ln w="15240">
            <a:solidFill>
              <a:srgbClr val="1928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464040" y="1572768"/>
            <a:ext cx="1508760" cy="749808"/>
          </a:xfrm>
          <a:prstGeom prst="roundRect">
            <a:avLst/>
          </a:prstGeom>
          <a:solidFill>
            <a:srgbClr val="091226"/>
          </a:solidFill>
          <a:ln w="228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01600" bIns="101600" lIns="152400" rIns="152400"/>
          <a:lstStyle/>
          <a:p>
            <a:pPr algn="ctr"/>
            <a:r>
              <a:rPr sz="2000" b="1">
                <a:solidFill>
                  <a:srgbClr val="38BDF8"/>
                </a:solidFill>
                <a:latin typeface="Arial"/>
              </a:rPr>
              <a:t>Tool Pipeline</a:t>
            </a:r>
          </a:p>
          <a:p>
            <a:pPr algn="ctr">
              <a:spcBef>
                <a:spcPts val="600"/>
              </a:spcBef>
            </a:pPr>
            <a:r>
              <a:rPr sz="1400" b="0">
                <a:solidFill>
                  <a:srgbClr val="DDE6F4"/>
                </a:solidFill>
                <a:latin typeface="Arial"/>
              </a:rPr>
              <a:t/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218419" y="2322576"/>
            <a:ext cx="0" cy="3163824"/>
          </a:xfrm>
          <a:prstGeom prst="line">
            <a:avLst/>
          </a:prstGeom>
          <a:ln w="15240">
            <a:solidFill>
              <a:srgbClr val="1928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664208" y="2697480"/>
            <a:ext cx="2148840" cy="0"/>
          </a:xfrm>
          <a:prstGeom prst="line">
            <a:avLst/>
          </a:prstGeom>
          <a:ln w="15875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773936" y="2569464"/>
            <a:ext cx="1929383" cy="274320"/>
          </a:xfrm>
          <a:prstGeom prst="roundRect">
            <a:avLst/>
          </a:prstGeom>
          <a:solidFill>
            <a:srgbClr val="0F1F3C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0800" bIns="50800" lIns="101600" rIns="101600"/>
          <a:lstStyle/>
          <a:p>
            <a:pPr algn="ctr">
              <a:spcAft>
                <a:spcPts val="600"/>
              </a:spcAft>
            </a:pPr>
            <a:r>
              <a:rPr sz="1150" b="0">
                <a:solidFill>
                  <a:srgbClr val="DDE6F4"/>
                </a:solidFill>
                <a:latin typeface="Arial"/>
              </a:rPr>
              <a:t>任务输入 / 约束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813048" y="3154680"/>
            <a:ext cx="2148840" cy="0"/>
          </a:xfrm>
          <a:prstGeom prst="line">
            <a:avLst/>
          </a:prstGeom>
          <a:ln w="15875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922776" y="3026664"/>
            <a:ext cx="1929383" cy="274320"/>
          </a:xfrm>
          <a:prstGeom prst="roundRect">
            <a:avLst/>
          </a:prstGeom>
          <a:solidFill>
            <a:srgbClr val="0F1F3C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0800" bIns="50800" lIns="101600" rIns="101600"/>
          <a:lstStyle/>
          <a:p>
            <a:pPr algn="ctr">
              <a:spcAft>
                <a:spcPts val="600"/>
              </a:spcAft>
            </a:pPr>
            <a:r>
              <a:rPr sz="1150" b="0">
                <a:solidFill>
                  <a:srgbClr val="DDE6F4"/>
                </a:solidFill>
                <a:latin typeface="Arial"/>
              </a:rPr>
              <a:t>组装 prompt 与 context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61888" y="3611880"/>
            <a:ext cx="2148839" cy="0"/>
          </a:xfrm>
          <a:prstGeom prst="line">
            <a:avLst/>
          </a:prstGeom>
          <a:ln w="15875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071616" y="3483864"/>
            <a:ext cx="1929383" cy="274320"/>
          </a:xfrm>
          <a:prstGeom prst="roundRect">
            <a:avLst/>
          </a:prstGeom>
          <a:solidFill>
            <a:srgbClr val="0F1F3C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0800" bIns="50800" lIns="101600" rIns="101600"/>
          <a:lstStyle/>
          <a:p>
            <a:pPr algn="ctr">
              <a:spcAft>
                <a:spcPts val="600"/>
              </a:spcAft>
            </a:pPr>
            <a:r>
              <a:rPr sz="1150" b="0">
                <a:solidFill>
                  <a:srgbClr val="DDE6F4"/>
                </a:solidFill>
                <a:latin typeface="Arial"/>
              </a:rPr>
              <a:t>启动 turn loop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110727" y="4069080"/>
            <a:ext cx="2103121" cy="0"/>
          </a:xfrm>
          <a:prstGeom prst="line">
            <a:avLst/>
          </a:prstGeom>
          <a:ln w="15875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220455" y="3941064"/>
            <a:ext cx="1883664" cy="274320"/>
          </a:xfrm>
          <a:prstGeom prst="roundRect">
            <a:avLst/>
          </a:prstGeom>
          <a:solidFill>
            <a:srgbClr val="0F1F3C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0800" bIns="50800" lIns="101600" rIns="101600"/>
          <a:lstStyle/>
          <a:p>
            <a:pPr algn="ctr">
              <a:spcAft>
                <a:spcPts val="600"/>
              </a:spcAft>
            </a:pPr>
            <a:r>
              <a:rPr sz="1150" b="0">
                <a:solidFill>
                  <a:srgbClr val="DDE6F4"/>
                </a:solidFill>
                <a:latin typeface="Arial"/>
              </a:rPr>
              <a:t>决定是否调用工具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8110727" y="4526280"/>
            <a:ext cx="2103121" cy="0"/>
          </a:xfrm>
          <a:prstGeom prst="line">
            <a:avLst/>
          </a:prstGeom>
          <a:ln w="15875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220455" y="4398264"/>
            <a:ext cx="1883664" cy="274320"/>
          </a:xfrm>
          <a:prstGeom prst="roundRect">
            <a:avLst/>
          </a:prstGeom>
          <a:solidFill>
            <a:srgbClr val="0F1F3C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0800" bIns="50800" lIns="101600" rIns="101600"/>
          <a:lstStyle/>
          <a:p>
            <a:pPr algn="ctr">
              <a:spcAft>
                <a:spcPts val="600"/>
              </a:spcAft>
            </a:pPr>
            <a:r>
              <a:rPr sz="1150" b="0">
                <a:solidFill>
                  <a:srgbClr val="DDE6F4"/>
                </a:solidFill>
                <a:latin typeface="Arial"/>
              </a:rPr>
              <a:t>tool result 回灌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5961888" y="4983480"/>
            <a:ext cx="2148839" cy="0"/>
          </a:xfrm>
          <a:prstGeom prst="line">
            <a:avLst/>
          </a:prstGeom>
          <a:ln w="15875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071616" y="4855464"/>
            <a:ext cx="1929383" cy="274320"/>
          </a:xfrm>
          <a:prstGeom prst="roundRect">
            <a:avLst/>
          </a:prstGeom>
          <a:solidFill>
            <a:srgbClr val="0F1F3C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0800" bIns="50800" lIns="101600" rIns="101600"/>
          <a:lstStyle/>
          <a:p>
            <a:pPr algn="ctr">
              <a:spcAft>
                <a:spcPts val="600"/>
              </a:spcAft>
            </a:pPr>
            <a:r>
              <a:rPr sz="1150" b="0">
                <a:solidFill>
                  <a:srgbClr val="DDE6F4"/>
                </a:solidFill>
                <a:latin typeface="Arial"/>
              </a:rPr>
              <a:t>继续 / 收敛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806440"/>
            <a:ext cx="10972800" cy="384048"/>
          </a:xfrm>
          <a:prstGeom prst="roundRect">
            <a:avLst/>
          </a:prstGeom>
          <a:solidFill>
            <a:srgbClr val="0C162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0800" bIns="50800" lIns="101600" rIns="101600"/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DDE6F4"/>
                </a:solidFill>
                <a:latin typeface="Arial"/>
              </a:rPr>
              <a:t>结论：目标、范围、约束、验证写得越清楚，越能稳定影响 prompt stack、turn loop 和 tool pipeline 的每一步。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r>
              <a:rPr sz="2400" b="1">
                <a:solidFill>
                  <a:srgbClr val="F4F7FF"/>
                </a:solidFill>
                <a:latin typeface="Arial"/>
              </a:rPr>
              <a:t>默认偏好的工作方式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98448"/>
            <a:ext cx="2194560" cy="1828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1536192"/>
            <a:ext cx="10972800" cy="658368"/>
          </a:xfrm>
          <a:prstGeom prst="roundRect">
            <a:avLst/>
          </a:prstGeom>
          <a:solidFill>
            <a:srgbClr val="0C162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0800" bIns="50800" lIns="101600" rIns="101600"/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DDE6F4"/>
                </a:solidFill>
                <a:latin typeface="Arial"/>
              </a:rPr>
              <a:t>后面的所有使用技巧，都是把源码里的默认偏好显式写进用户提示里。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450592"/>
            <a:ext cx="5577840" cy="306324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DDE6F4"/>
                </a:solidFill>
                <a:latin typeface="Arial"/>
              </a:rPr>
              <a:t>先读代码，再改代码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DDE6F4"/>
                </a:solidFill>
                <a:latin typeface="Arial"/>
              </a:rPr>
              <a:t>最小必要改动，优先复用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DDE6F4"/>
                </a:solidFill>
                <a:latin typeface="Arial"/>
              </a:rPr>
              <a:t>优先 dedicated tools（专用工具）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DDE6F4"/>
                </a:solidFill>
                <a:latin typeface="Arial"/>
              </a:rPr>
              <a:t>验证后如实汇报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DDE6F4"/>
                </a:solidFill>
                <a:latin typeface="Arial"/>
              </a:rPr>
              <a:t>高风险动作先确认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2468880"/>
            <a:ext cx="4800600" cy="2468880"/>
          </a:xfrm>
          <a:prstGeom prst="roundRect">
            <a:avLst/>
          </a:prstGeom>
          <a:solidFill>
            <a:srgbClr val="060C1C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03200" bIns="76200" lIns="127000" rIns="127000"/>
          <a:lstStyle/>
          <a:p>
            <a:pPr algn="ctr"/>
            <a:r>
              <a:rPr sz="1250" b="0">
                <a:solidFill>
                  <a:srgbClr val="C5F4FF"/>
                </a:solidFill>
                <a:latin typeface="Courier New"/>
              </a:rPr>
              <a:t>In general, do not propose changes to code you haven't read.
Do NOT use the Bash tool to run commands when a relevant dedicated tool is provided.
Report outcomes faithfully: if tests fail, say so ...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37960" y="2468880"/>
            <a:ext cx="4800600" cy="256032"/>
          </a:xfrm>
          <a:prstGeom prst="rect">
            <a:avLst/>
          </a:prstGeom>
          <a:solidFill>
            <a:srgbClr val="0F1830"/>
          </a:solidFill>
          <a:ln>
            <a:solidFill>
              <a:srgbClr val="0F1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76200" rIns="76200"/>
          <a:lstStyle/>
          <a:p>
            <a:pPr algn="ctr"/>
            <a:r>
              <a:rPr sz="1000" b="1">
                <a:solidFill>
                  <a:srgbClr val="38BDF8"/>
                </a:solidFill>
                <a:latin typeface="Courier New"/>
              </a:rPr>
              <a:t>源码提示词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108192"/>
            <a:ext cx="10881360" cy="320040"/>
          </a:xfrm>
          <a:prstGeom prst="rect">
            <a:avLst/>
          </a:prstGeom>
          <a:noFill/>
        </p:spPr>
        <p:txBody>
          <a:bodyPr wrap="square" tIns="12700" bIns="12700" lIns="12700" rIns="12700" anchor="t">
            <a:spAutoFit/>
          </a:bodyPr>
          <a:lstStyle/>
          <a:p>
            <a:pPr algn="l"/>
            <a:r>
              <a:rPr sz="1100" b="0">
                <a:solidFill>
                  <a:srgbClr val="899CBE"/>
                </a:solidFill>
                <a:latin typeface="Arial"/>
              </a:rPr>
              <a:t>源码依据：prompts.ts#L230 / #L203 / #L305 / #L240 / #L258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r>
              <a:rPr sz="2400" b="1">
                <a:solidFill>
                  <a:srgbClr val="F4F7FF"/>
                </a:solidFill>
                <a:latin typeface="Arial"/>
              </a:rPr>
              <a:t>技巧 1：目标 + 范围 + 约束 + 验证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98448"/>
            <a:ext cx="2194560" cy="1828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1481328"/>
            <a:ext cx="10972800" cy="658368"/>
          </a:xfrm>
          <a:prstGeom prst="roundRect">
            <a:avLst/>
          </a:prstGeom>
          <a:solidFill>
            <a:srgbClr val="0C162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0800" bIns="50800" lIns="101600" rIns="101600"/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DDE6F4"/>
                </a:solidFill>
                <a:latin typeface="Arial"/>
              </a:rPr>
              <a:t>最稳定的输入方式，是把任务写成“目标 + 范围 + 约束 + 验证”。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331720"/>
            <a:ext cx="3246120" cy="1554480"/>
          </a:xfrm>
          <a:prstGeom prst="roundRect">
            <a:avLst/>
          </a:prstGeom>
          <a:solidFill>
            <a:srgbClr val="091226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2331720"/>
            <a:ext cx="3246120" cy="347472"/>
          </a:xfrm>
          <a:prstGeom prst="rect">
            <a:avLst/>
          </a:prstGeom>
          <a:solidFill>
            <a:srgbClr val="0C162E"/>
          </a:solidFill>
          <a:ln>
            <a:solidFill>
              <a:srgbClr val="0C1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76200" rIns="76200"/>
          <a:lstStyle/>
          <a:p>
            <a:pPr algn="ctr"/>
            <a:r>
              <a:rPr sz="1200" b="1">
                <a:solidFill>
                  <a:srgbClr val="38BDF8"/>
                </a:solidFill>
                <a:latin typeface="Arial"/>
              </a:rPr>
              <a:t>示例提示词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2734056"/>
            <a:ext cx="3099815" cy="109728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DDE6F4"/>
                </a:solidFill>
                <a:latin typeface="Arial"/>
              </a:rPr>
              <a:t>目标：修复/实现……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DDE6F4"/>
                </a:solidFill>
                <a:latin typeface="Arial"/>
              </a:rPr>
              <a:t>范围：只改……相关代码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DDE6F4"/>
                </a:solidFill>
                <a:latin typeface="Arial"/>
              </a:rPr>
              <a:t>约束：不要做无关重构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DDE6F4"/>
                </a:solidFill>
                <a:latin typeface="Arial"/>
              </a:rPr>
              <a:t>验证：跑测试并说明结果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33087" y="2331720"/>
            <a:ext cx="3474720" cy="1554480"/>
          </a:xfrm>
          <a:prstGeom prst="roundRect">
            <a:avLst/>
          </a:prstGeom>
          <a:solidFill>
            <a:srgbClr val="091226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33087" y="2331720"/>
            <a:ext cx="3474720" cy="347472"/>
          </a:xfrm>
          <a:prstGeom prst="rect">
            <a:avLst/>
          </a:prstGeom>
          <a:solidFill>
            <a:srgbClr val="0C162E"/>
          </a:solidFill>
          <a:ln>
            <a:solidFill>
              <a:srgbClr val="0C1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76200" rIns="76200"/>
          <a:lstStyle/>
          <a:p>
            <a:pPr algn="ctr"/>
            <a:r>
              <a:rPr sz="1200" b="1">
                <a:solidFill>
                  <a:srgbClr val="38BDF8"/>
                </a:solidFill>
                <a:latin typeface="Arial"/>
              </a:rPr>
              <a:t>源码解释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2734056"/>
            <a:ext cx="3328415" cy="109728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DDE6F4"/>
                </a:solidFill>
                <a:latin typeface="Arial"/>
              </a:rPr>
              <a:t>减少分析 / 实现 / 顺手优化之间的歧义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DDE6F4"/>
                </a:solidFill>
                <a:latin typeface="Arial"/>
              </a:rPr>
              <a:t>让 turn loop（轮次循环）围绕明确目标推进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36408" y="2331720"/>
            <a:ext cx="3794760" cy="1554480"/>
          </a:xfrm>
          <a:prstGeom prst="roundRect">
            <a:avLst/>
          </a:prstGeom>
          <a:solidFill>
            <a:srgbClr val="091226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36408" y="2331720"/>
            <a:ext cx="3794760" cy="347472"/>
          </a:xfrm>
          <a:prstGeom prst="rect">
            <a:avLst/>
          </a:prstGeom>
          <a:solidFill>
            <a:srgbClr val="0C162E"/>
          </a:solidFill>
          <a:ln>
            <a:solidFill>
              <a:srgbClr val="0C1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76200" rIns="76200"/>
          <a:lstStyle/>
          <a:p>
            <a:pPr algn="ctr"/>
            <a:r>
              <a:rPr sz="1200" b="1">
                <a:solidFill>
                  <a:srgbClr val="38BDF8"/>
                </a:solidFill>
                <a:latin typeface="Arial"/>
              </a:rPr>
              <a:t>证据链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2734056"/>
            <a:ext cx="3648456" cy="109728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DDE6F4"/>
                </a:solidFill>
                <a:latin typeface="Arial"/>
              </a:rPr>
              <a:t>prompt stack（提示词栈）默认把请求理解成软件工程任务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DDE6F4"/>
                </a:solidFill>
                <a:latin typeface="Arial"/>
              </a:rPr>
              <a:t>turn loop（轮次循环）会围绕目标、范围和验证持续推进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160520"/>
            <a:ext cx="10972800" cy="1234440"/>
          </a:xfrm>
          <a:prstGeom prst="roundRect">
            <a:avLst/>
          </a:prstGeom>
          <a:solidFill>
            <a:srgbClr val="060C1C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03200" bIns="76200" lIns="127000" rIns="127000"/>
          <a:lstStyle/>
          <a:p>
            <a:pPr algn="ctr"/>
            <a:r>
              <a:rPr sz="1250" b="0">
                <a:solidFill>
                  <a:srgbClr val="C5F4FF"/>
                </a:solidFill>
                <a:latin typeface="Courier New"/>
              </a:rPr>
              <a:t>The user will primarily request you to perform software engineering tasks.
In general, do not propose changes to code you haven't read.
Report outcomes faithfully: if tests fail, say so ...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4160520"/>
            <a:ext cx="10972800" cy="256032"/>
          </a:xfrm>
          <a:prstGeom prst="rect">
            <a:avLst/>
          </a:prstGeom>
          <a:solidFill>
            <a:srgbClr val="0F1830"/>
          </a:solidFill>
          <a:ln>
            <a:solidFill>
              <a:srgbClr val="0F1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76200" rIns="76200"/>
          <a:lstStyle/>
          <a:p>
            <a:pPr algn="ctr"/>
            <a:r>
              <a:rPr sz="1000" b="1">
                <a:solidFill>
                  <a:srgbClr val="38BDF8"/>
                </a:solidFill>
                <a:latin typeface="Courier New"/>
              </a:rPr>
              <a:t>源码提示词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108192"/>
            <a:ext cx="10881360" cy="320040"/>
          </a:xfrm>
          <a:prstGeom prst="rect">
            <a:avLst/>
          </a:prstGeom>
          <a:noFill/>
        </p:spPr>
        <p:txBody>
          <a:bodyPr wrap="square" tIns="12700" bIns="12700" lIns="12700" rIns="12700" anchor="t">
            <a:spAutoFit/>
          </a:bodyPr>
          <a:lstStyle/>
          <a:p>
            <a:pPr algn="l"/>
            <a:r>
              <a:rPr sz="1100" b="0">
                <a:solidFill>
                  <a:srgbClr val="899CBE"/>
                </a:solidFill>
                <a:latin typeface="Arial"/>
              </a:rPr>
              <a:t>源码依据：prompts.ts#L221 / #L230 / #L240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r>
              <a:rPr sz="2400" b="1">
                <a:solidFill>
                  <a:srgbClr val="F4F7FF"/>
                </a:solidFill>
                <a:latin typeface="Arial"/>
              </a:rPr>
              <a:t>技巧 2：先读代码，再改代码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98448"/>
            <a:ext cx="2194560" cy="1828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1481328"/>
            <a:ext cx="10972800" cy="658368"/>
          </a:xfrm>
          <a:prstGeom prst="roundRect">
            <a:avLst/>
          </a:prstGeom>
          <a:solidFill>
            <a:srgbClr val="0C162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0800" bIns="50800" lIns="101600" rIns="101600"/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DDE6F4"/>
                </a:solidFill>
                <a:latin typeface="Arial"/>
              </a:rPr>
              <a:t>“先读代码，再改代码”不是建议项，而是源码里的默认工作顺序。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331720"/>
            <a:ext cx="3246120" cy="1554480"/>
          </a:xfrm>
          <a:prstGeom prst="roundRect">
            <a:avLst/>
          </a:prstGeom>
          <a:solidFill>
            <a:srgbClr val="091226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2331720"/>
            <a:ext cx="3246120" cy="347472"/>
          </a:xfrm>
          <a:prstGeom prst="rect">
            <a:avLst/>
          </a:prstGeom>
          <a:solidFill>
            <a:srgbClr val="0C162E"/>
          </a:solidFill>
          <a:ln>
            <a:solidFill>
              <a:srgbClr val="0C1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76200" rIns="76200"/>
          <a:lstStyle/>
          <a:p>
            <a:pPr algn="ctr"/>
            <a:r>
              <a:rPr sz="1200" b="1">
                <a:solidFill>
                  <a:srgbClr val="38BDF8"/>
                </a:solidFill>
                <a:latin typeface="Arial"/>
              </a:rPr>
              <a:t>示例提示词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2734056"/>
            <a:ext cx="3099815" cy="109728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DDE6F4"/>
                </a:solidFill>
                <a:latin typeface="Arial"/>
              </a:rPr>
              <a:t>先看 src/foo.ts 和 src/bar.ts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DDE6F4"/>
                </a:solidFill>
                <a:latin typeface="Arial"/>
              </a:rPr>
              <a:t>再决定改法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33087" y="2331720"/>
            <a:ext cx="3474720" cy="1554480"/>
          </a:xfrm>
          <a:prstGeom prst="roundRect">
            <a:avLst/>
          </a:prstGeom>
          <a:solidFill>
            <a:srgbClr val="091226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33087" y="2331720"/>
            <a:ext cx="3474720" cy="347472"/>
          </a:xfrm>
          <a:prstGeom prst="rect">
            <a:avLst/>
          </a:prstGeom>
          <a:solidFill>
            <a:srgbClr val="0C162E"/>
          </a:solidFill>
          <a:ln>
            <a:solidFill>
              <a:srgbClr val="0C1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76200" rIns="76200"/>
          <a:lstStyle/>
          <a:p>
            <a:pPr algn="ctr"/>
            <a:r>
              <a:rPr sz="1200" b="1">
                <a:solidFill>
                  <a:srgbClr val="38BDF8"/>
                </a:solidFill>
                <a:latin typeface="Arial"/>
              </a:rPr>
              <a:t>源码解释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2734056"/>
            <a:ext cx="3328415" cy="109728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DDE6F4"/>
                </a:solidFill>
                <a:latin typeface="Arial"/>
              </a:rPr>
              <a:t>减少无关探索和上下文噪音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DDE6F4"/>
                </a:solidFill>
                <a:latin typeface="Arial"/>
              </a:rPr>
              <a:t>更容易沿用现有实现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36408" y="2331720"/>
            <a:ext cx="3794760" cy="1554480"/>
          </a:xfrm>
          <a:prstGeom prst="roundRect">
            <a:avLst/>
          </a:prstGeom>
          <a:solidFill>
            <a:srgbClr val="091226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36408" y="2331720"/>
            <a:ext cx="3794760" cy="347472"/>
          </a:xfrm>
          <a:prstGeom prst="rect">
            <a:avLst/>
          </a:prstGeom>
          <a:solidFill>
            <a:srgbClr val="0C162E"/>
          </a:solidFill>
          <a:ln>
            <a:solidFill>
              <a:srgbClr val="0C1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76200" rIns="76200"/>
          <a:lstStyle/>
          <a:p>
            <a:pPr algn="ctr"/>
            <a:r>
              <a:rPr sz="1200" b="1">
                <a:solidFill>
                  <a:srgbClr val="38BDF8"/>
                </a:solidFill>
                <a:latin typeface="Arial"/>
              </a:rPr>
              <a:t>证据链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2734056"/>
            <a:ext cx="3648456" cy="109728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DDE6F4"/>
                </a:solidFill>
                <a:latin typeface="Arial"/>
              </a:rPr>
              <a:t>prompt stack（提示词栈）明确要求先读代码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DDE6F4"/>
                </a:solidFill>
                <a:latin typeface="Arial"/>
              </a:rPr>
              <a:t>Plan Mode workflow（规划模式工作流）先 Explore 再规划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160520"/>
            <a:ext cx="10972800" cy="1234440"/>
          </a:xfrm>
          <a:prstGeom prst="roundRect">
            <a:avLst/>
          </a:prstGeom>
          <a:solidFill>
            <a:srgbClr val="060C1C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03200" bIns="76200" lIns="127000" rIns="127000"/>
          <a:lstStyle/>
          <a:p>
            <a:pPr algn="ctr"/>
            <a:r>
              <a:rPr sz="1250" b="0">
                <a:solidFill>
                  <a:srgbClr val="C5F4FF"/>
                </a:solidFill>
                <a:latin typeface="Courier New"/>
              </a:rPr>
              <a:t>In general, do not propose changes to code you haven't read.
If a user asks about or wants you to modify a file, read it first.
1. Explore — Use read-only tools to read code.
Look for existing functions, utilities, and patterns to reuse.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4160520"/>
            <a:ext cx="10972800" cy="256032"/>
          </a:xfrm>
          <a:prstGeom prst="rect">
            <a:avLst/>
          </a:prstGeom>
          <a:solidFill>
            <a:srgbClr val="0F1830"/>
          </a:solidFill>
          <a:ln>
            <a:solidFill>
              <a:srgbClr val="0F1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76200" rIns="76200"/>
          <a:lstStyle/>
          <a:p>
            <a:pPr algn="ctr"/>
            <a:r>
              <a:rPr sz="1000" b="1">
                <a:solidFill>
                  <a:srgbClr val="38BDF8"/>
                </a:solidFill>
                <a:latin typeface="Courier New"/>
              </a:rPr>
              <a:t>源码提示词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108192"/>
            <a:ext cx="10881360" cy="320040"/>
          </a:xfrm>
          <a:prstGeom prst="rect">
            <a:avLst/>
          </a:prstGeom>
          <a:noFill/>
        </p:spPr>
        <p:txBody>
          <a:bodyPr wrap="square" tIns="12700" bIns="12700" lIns="12700" rIns="12700" anchor="t">
            <a:spAutoFit/>
          </a:bodyPr>
          <a:lstStyle/>
          <a:p>
            <a:pPr algn="l"/>
            <a:r>
              <a:rPr sz="1100" b="0">
                <a:solidFill>
                  <a:srgbClr val="899CBE"/>
                </a:solidFill>
                <a:latin typeface="Arial"/>
              </a:rPr>
              <a:t>源码依据：prompts.ts#L230，messages.ts#L3344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r>
              <a:rPr sz="2400" b="1">
                <a:solidFill>
                  <a:srgbClr val="F4F7FF"/>
                </a:solidFill>
                <a:latin typeface="Arial"/>
              </a:rPr>
              <a:t>技巧 3：最小改动、优先复用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98448"/>
            <a:ext cx="2194560" cy="1828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1481328"/>
            <a:ext cx="10972800" cy="658368"/>
          </a:xfrm>
          <a:prstGeom prst="roundRect">
            <a:avLst/>
          </a:prstGeom>
          <a:solidFill>
            <a:srgbClr val="0C162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0800" bIns="50800" lIns="101600" rIns="101600"/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DDE6F4"/>
                </a:solidFill>
                <a:latin typeface="Arial"/>
              </a:rPr>
              <a:t>把“最小改动、优先复用”写出来，能明显降低顺手重构和过早抽象。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331720"/>
            <a:ext cx="3246120" cy="1554480"/>
          </a:xfrm>
          <a:prstGeom prst="roundRect">
            <a:avLst/>
          </a:prstGeom>
          <a:solidFill>
            <a:srgbClr val="091226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2331720"/>
            <a:ext cx="3246120" cy="347472"/>
          </a:xfrm>
          <a:prstGeom prst="rect">
            <a:avLst/>
          </a:prstGeom>
          <a:solidFill>
            <a:srgbClr val="0C162E"/>
          </a:solidFill>
          <a:ln>
            <a:solidFill>
              <a:srgbClr val="0C1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76200" rIns="76200"/>
          <a:lstStyle/>
          <a:p>
            <a:pPr algn="ctr"/>
            <a:r>
              <a:rPr sz="1200" b="1">
                <a:solidFill>
                  <a:srgbClr val="38BDF8"/>
                </a:solidFill>
                <a:latin typeface="Arial"/>
              </a:rPr>
              <a:t>示例提示词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2734056"/>
            <a:ext cx="3099815" cy="109728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DDE6F4"/>
                </a:solidFill>
                <a:latin typeface="Arial"/>
              </a:rPr>
              <a:t>做最小必要改动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DDE6F4"/>
                </a:solidFill>
                <a:latin typeface="Arial"/>
              </a:rPr>
              <a:t>优先复用现有函数、工具和模式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DDE6F4"/>
                </a:solidFill>
                <a:latin typeface="Arial"/>
              </a:rPr>
              <a:t>不要新造一层抽象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33087" y="2331720"/>
            <a:ext cx="3474720" cy="1554480"/>
          </a:xfrm>
          <a:prstGeom prst="roundRect">
            <a:avLst/>
          </a:prstGeom>
          <a:solidFill>
            <a:srgbClr val="091226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33087" y="2331720"/>
            <a:ext cx="3474720" cy="347472"/>
          </a:xfrm>
          <a:prstGeom prst="rect">
            <a:avLst/>
          </a:prstGeom>
          <a:solidFill>
            <a:srgbClr val="0C162E"/>
          </a:solidFill>
          <a:ln>
            <a:solidFill>
              <a:srgbClr val="0C1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76200" rIns="76200"/>
          <a:lstStyle/>
          <a:p>
            <a:pPr algn="ctr"/>
            <a:r>
              <a:rPr sz="1200" b="1">
                <a:solidFill>
                  <a:srgbClr val="38BDF8"/>
                </a:solidFill>
                <a:latin typeface="Arial"/>
              </a:rPr>
              <a:t>源码解释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2734056"/>
            <a:ext cx="3328415" cy="109728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DDE6F4"/>
                </a:solidFill>
                <a:latin typeface="Arial"/>
              </a:rPr>
              <a:t>抑制范围漂移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DDE6F4"/>
                </a:solidFill>
                <a:latin typeface="Arial"/>
              </a:rPr>
              <a:t>避免 one-time helper 和过早抽象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36408" y="2331720"/>
            <a:ext cx="3794760" cy="1554480"/>
          </a:xfrm>
          <a:prstGeom prst="roundRect">
            <a:avLst/>
          </a:prstGeom>
          <a:solidFill>
            <a:srgbClr val="091226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36408" y="2331720"/>
            <a:ext cx="3794760" cy="347472"/>
          </a:xfrm>
          <a:prstGeom prst="rect">
            <a:avLst/>
          </a:prstGeom>
          <a:solidFill>
            <a:srgbClr val="0C162E"/>
          </a:solidFill>
          <a:ln>
            <a:solidFill>
              <a:srgbClr val="0C1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76200" rIns="76200"/>
          <a:lstStyle/>
          <a:p>
            <a:pPr algn="ctr"/>
            <a:r>
              <a:rPr sz="1200" b="1">
                <a:solidFill>
                  <a:srgbClr val="38BDF8"/>
                </a:solidFill>
                <a:latin typeface="Arial"/>
              </a:rPr>
              <a:t>证据链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2734056"/>
            <a:ext cx="3648456" cy="109728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DDE6F4"/>
                </a:solidFill>
                <a:latin typeface="Arial"/>
              </a:rPr>
              <a:t>prompt stack（提示词栈）本身就在压制不必要改动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DDE6F4"/>
                </a:solidFill>
                <a:latin typeface="Arial"/>
              </a:rPr>
              <a:t>tool pipeline（工具执行流水线）更适合局部、清晰、可验证的改动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160520"/>
            <a:ext cx="10972800" cy="1234440"/>
          </a:xfrm>
          <a:prstGeom prst="roundRect">
            <a:avLst/>
          </a:prstGeom>
          <a:solidFill>
            <a:srgbClr val="060C1C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03200" bIns="76200" lIns="127000" rIns="127000"/>
          <a:lstStyle/>
          <a:p>
            <a:pPr algn="ctr"/>
            <a:r>
              <a:rPr sz="1250" b="0">
                <a:solidFill>
                  <a:srgbClr val="C5F4FF"/>
                </a:solidFill>
                <a:latin typeface="Courier New"/>
              </a:rPr>
              <a:t>Don't add features, refactor code, or make "improvements" beyond what was asked.
Don't create helpers, utilities, or abstractions for one-time operations.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4160520"/>
            <a:ext cx="10972800" cy="256032"/>
          </a:xfrm>
          <a:prstGeom prst="rect">
            <a:avLst/>
          </a:prstGeom>
          <a:solidFill>
            <a:srgbClr val="0F1830"/>
          </a:solidFill>
          <a:ln>
            <a:solidFill>
              <a:srgbClr val="0F1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76200" rIns="76200"/>
          <a:lstStyle/>
          <a:p>
            <a:pPr algn="ctr"/>
            <a:r>
              <a:rPr sz="1000" b="1">
                <a:solidFill>
                  <a:srgbClr val="38BDF8"/>
                </a:solidFill>
                <a:latin typeface="Courier New"/>
              </a:rPr>
              <a:t>源码提示词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108192"/>
            <a:ext cx="10881360" cy="320040"/>
          </a:xfrm>
          <a:prstGeom prst="rect">
            <a:avLst/>
          </a:prstGeom>
          <a:noFill/>
        </p:spPr>
        <p:txBody>
          <a:bodyPr wrap="square" tIns="12700" bIns="12700" lIns="12700" rIns="12700" anchor="t">
            <a:spAutoFit/>
          </a:bodyPr>
          <a:lstStyle/>
          <a:p>
            <a:pPr algn="l"/>
            <a:r>
              <a:rPr sz="1100" b="0">
                <a:solidFill>
                  <a:srgbClr val="899CBE"/>
                </a:solidFill>
                <a:latin typeface="Arial"/>
              </a:rPr>
              <a:t>源码依据：prompts.ts#L200 / #L203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r>
              <a:rPr sz="2400" b="1">
                <a:solidFill>
                  <a:srgbClr val="F4F7FF"/>
                </a:solidFill>
                <a:latin typeface="Arial"/>
              </a:rPr>
              <a:t>技巧 4：优先 dedicated tools（专用工具）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98448"/>
            <a:ext cx="2194560" cy="1828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1481328"/>
            <a:ext cx="10972800" cy="658368"/>
          </a:xfrm>
          <a:prstGeom prst="roundRect">
            <a:avLst/>
          </a:prstGeom>
          <a:solidFill>
            <a:srgbClr val="0C162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0800" bIns="50800" lIns="101600" rIns="101600"/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DDE6F4"/>
                </a:solidFill>
                <a:latin typeface="Arial"/>
              </a:rPr>
              <a:t>Claude Code 更偏好 dedicated tools（专用工具），Bash 在源码里是 fallback，不是首选。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331720"/>
            <a:ext cx="3246120" cy="1554480"/>
          </a:xfrm>
          <a:prstGeom prst="roundRect">
            <a:avLst/>
          </a:prstGeom>
          <a:solidFill>
            <a:srgbClr val="091226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2331720"/>
            <a:ext cx="3246120" cy="347472"/>
          </a:xfrm>
          <a:prstGeom prst="rect">
            <a:avLst/>
          </a:prstGeom>
          <a:solidFill>
            <a:srgbClr val="0C162E"/>
          </a:solidFill>
          <a:ln>
            <a:solidFill>
              <a:srgbClr val="0C1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76200" rIns="76200"/>
          <a:lstStyle/>
          <a:p>
            <a:pPr algn="ctr"/>
            <a:r>
              <a:rPr sz="1200" b="1">
                <a:solidFill>
                  <a:srgbClr val="38BDF8"/>
                </a:solidFill>
                <a:latin typeface="Arial"/>
              </a:rPr>
              <a:t>示例提示词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2734056"/>
            <a:ext cx="3099815" cy="109728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DDE6F4"/>
                </a:solidFill>
                <a:latin typeface="Arial"/>
              </a:rPr>
              <a:t>优先直接读写文件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DDE6F4"/>
                </a:solidFill>
                <a:latin typeface="Arial"/>
              </a:rPr>
              <a:t>不要用 Bash 做本可由专用工具完成的事情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33087" y="2331720"/>
            <a:ext cx="3474720" cy="1554480"/>
          </a:xfrm>
          <a:prstGeom prst="roundRect">
            <a:avLst/>
          </a:prstGeom>
          <a:solidFill>
            <a:srgbClr val="091226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33087" y="2331720"/>
            <a:ext cx="3474720" cy="347472"/>
          </a:xfrm>
          <a:prstGeom prst="rect">
            <a:avLst/>
          </a:prstGeom>
          <a:solidFill>
            <a:srgbClr val="0C162E"/>
          </a:solidFill>
          <a:ln>
            <a:solidFill>
              <a:srgbClr val="0C1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76200" rIns="76200"/>
          <a:lstStyle/>
          <a:p>
            <a:pPr algn="ctr"/>
            <a:r>
              <a:rPr sz="1200" b="1">
                <a:solidFill>
                  <a:srgbClr val="38BDF8"/>
                </a:solidFill>
                <a:latin typeface="Arial"/>
              </a:rPr>
              <a:t>源码解释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2734056"/>
            <a:ext cx="3328415" cy="109728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DDE6F4"/>
                </a:solidFill>
                <a:latin typeface="Arial"/>
              </a:rPr>
              <a:t>专用工具更容易被解释和审查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DDE6F4"/>
                </a:solidFill>
                <a:latin typeface="Arial"/>
              </a:rPr>
              <a:t>也更容易受权限和执行链约束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36408" y="2331720"/>
            <a:ext cx="3794760" cy="1554480"/>
          </a:xfrm>
          <a:prstGeom prst="roundRect">
            <a:avLst/>
          </a:prstGeom>
          <a:solidFill>
            <a:srgbClr val="091226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36408" y="2331720"/>
            <a:ext cx="3794760" cy="347472"/>
          </a:xfrm>
          <a:prstGeom prst="rect">
            <a:avLst/>
          </a:prstGeom>
          <a:solidFill>
            <a:srgbClr val="0C162E"/>
          </a:solidFill>
          <a:ln>
            <a:solidFill>
              <a:srgbClr val="0C1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76200" rIns="76200"/>
          <a:lstStyle/>
          <a:p>
            <a:pPr algn="ctr"/>
            <a:r>
              <a:rPr sz="1200" b="1">
                <a:solidFill>
                  <a:srgbClr val="38BDF8"/>
                </a:solidFill>
                <a:latin typeface="Arial"/>
              </a:rPr>
              <a:t>证据链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2734056"/>
            <a:ext cx="3648456" cy="109728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DDE6F4"/>
                </a:solidFill>
                <a:latin typeface="Arial"/>
              </a:rPr>
              <a:t>tool pipeline（工具执行流水线）里，dedicated tools 是一等能力面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DDE6F4"/>
                </a:solidFill>
                <a:latin typeface="Arial"/>
              </a:rPr>
              <a:t>Bash 是更自由也更高风险的 fallback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160520"/>
            <a:ext cx="10972800" cy="1234440"/>
          </a:xfrm>
          <a:prstGeom prst="roundRect">
            <a:avLst/>
          </a:prstGeom>
          <a:solidFill>
            <a:srgbClr val="060C1C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03200" bIns="76200" lIns="127000" rIns="127000"/>
          <a:lstStyle/>
          <a:p>
            <a:pPr algn="ctr"/>
            <a:r>
              <a:rPr sz="1250" b="0">
                <a:solidFill>
                  <a:srgbClr val="C5F4FF"/>
                </a:solidFill>
                <a:latin typeface="Courier New"/>
              </a:rPr>
              <a:t>default to using the dedicated tool and only fallback on using the Bash tool ...
Do NOT use the Bash tool to run commands when a relevant dedicated tool is provided.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4160520"/>
            <a:ext cx="10972800" cy="256032"/>
          </a:xfrm>
          <a:prstGeom prst="rect">
            <a:avLst/>
          </a:prstGeom>
          <a:solidFill>
            <a:srgbClr val="0F1830"/>
          </a:solidFill>
          <a:ln>
            <a:solidFill>
              <a:srgbClr val="0F1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76200" rIns="76200"/>
          <a:lstStyle/>
          <a:p>
            <a:pPr algn="ctr"/>
            <a:r>
              <a:rPr sz="1000" b="1">
                <a:solidFill>
                  <a:srgbClr val="38BDF8"/>
                </a:solidFill>
                <a:latin typeface="Courier New"/>
              </a:rPr>
              <a:t>源码提示词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108192"/>
            <a:ext cx="10881360" cy="320040"/>
          </a:xfrm>
          <a:prstGeom prst="rect">
            <a:avLst/>
          </a:prstGeom>
          <a:noFill/>
        </p:spPr>
        <p:txBody>
          <a:bodyPr wrap="square" tIns="12700" bIns="12700" lIns="12700" rIns="12700" anchor="t">
            <a:spAutoFit/>
          </a:bodyPr>
          <a:lstStyle/>
          <a:p>
            <a:pPr algn="l"/>
            <a:r>
              <a:rPr sz="1100" b="0">
                <a:solidFill>
                  <a:srgbClr val="899CBE"/>
                </a:solidFill>
                <a:latin typeface="Arial"/>
              </a:rPr>
              <a:t>源码依据：prompts.ts#L301 / #L305，BashTool prompt#L297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r>
              <a:rPr sz="2400" b="1">
                <a:solidFill>
                  <a:srgbClr val="F4F7FF"/>
                </a:solidFill>
                <a:latin typeface="Arial"/>
              </a:rPr>
              <a:t>技巧 5：验证要求要写清楚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98448"/>
            <a:ext cx="2194560" cy="1828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1481328"/>
            <a:ext cx="10972800" cy="658368"/>
          </a:xfrm>
          <a:prstGeom prst="roundRect">
            <a:avLst/>
          </a:prstGeom>
          <a:solidFill>
            <a:srgbClr val="0C162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0800" bIns="50800" lIns="101600" rIns="101600"/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DDE6F4"/>
                </a:solidFill>
                <a:latin typeface="Arial"/>
              </a:rPr>
              <a:t>不要默认 Claude Code 已经验证过，验证要求必须显式写出来。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331720"/>
            <a:ext cx="3246120" cy="1554480"/>
          </a:xfrm>
          <a:prstGeom prst="roundRect">
            <a:avLst/>
          </a:prstGeom>
          <a:solidFill>
            <a:srgbClr val="091226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2331720"/>
            <a:ext cx="3246120" cy="347472"/>
          </a:xfrm>
          <a:prstGeom prst="rect">
            <a:avLst/>
          </a:prstGeom>
          <a:solidFill>
            <a:srgbClr val="0C162E"/>
          </a:solidFill>
          <a:ln>
            <a:solidFill>
              <a:srgbClr val="0C1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76200" rIns="76200"/>
          <a:lstStyle/>
          <a:p>
            <a:pPr algn="ctr"/>
            <a:r>
              <a:rPr sz="1200" b="1">
                <a:solidFill>
                  <a:srgbClr val="38BDF8"/>
                </a:solidFill>
                <a:latin typeface="Arial"/>
              </a:rPr>
              <a:t>示例提示词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2734056"/>
            <a:ext cx="3099815" cy="109728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DDE6F4"/>
                </a:solidFill>
                <a:latin typeface="Arial"/>
              </a:rPr>
              <a:t>改完后跑相关测试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DDE6F4"/>
                </a:solidFill>
                <a:latin typeface="Arial"/>
              </a:rPr>
              <a:t>如果没跑，请明确说明没有跑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33087" y="2331720"/>
            <a:ext cx="3474720" cy="1554480"/>
          </a:xfrm>
          <a:prstGeom prst="roundRect">
            <a:avLst/>
          </a:prstGeom>
          <a:solidFill>
            <a:srgbClr val="091226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33087" y="2331720"/>
            <a:ext cx="3474720" cy="347472"/>
          </a:xfrm>
          <a:prstGeom prst="rect">
            <a:avLst/>
          </a:prstGeom>
          <a:solidFill>
            <a:srgbClr val="0C162E"/>
          </a:solidFill>
          <a:ln>
            <a:solidFill>
              <a:srgbClr val="0C1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76200" rIns="76200"/>
          <a:lstStyle/>
          <a:p>
            <a:pPr algn="ctr"/>
            <a:r>
              <a:rPr sz="1200" b="1">
                <a:solidFill>
                  <a:srgbClr val="38BDF8"/>
                </a:solidFill>
                <a:latin typeface="Arial"/>
              </a:rPr>
              <a:t>源码解释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2734056"/>
            <a:ext cx="3328415" cy="109728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DDE6F4"/>
                </a:solidFill>
                <a:latin typeface="Arial"/>
              </a:rPr>
              <a:t>减少“看似完成、其实没验证”的风险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DDE6F4"/>
                </a:solidFill>
                <a:latin typeface="Arial"/>
              </a:rPr>
              <a:t>避免把未验证结果包装成完成状态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36408" y="2331720"/>
            <a:ext cx="3794760" cy="1554480"/>
          </a:xfrm>
          <a:prstGeom prst="roundRect">
            <a:avLst/>
          </a:prstGeom>
          <a:solidFill>
            <a:srgbClr val="091226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36408" y="2331720"/>
            <a:ext cx="3794760" cy="347472"/>
          </a:xfrm>
          <a:prstGeom prst="rect">
            <a:avLst/>
          </a:prstGeom>
          <a:solidFill>
            <a:srgbClr val="0C162E"/>
          </a:solidFill>
          <a:ln>
            <a:solidFill>
              <a:srgbClr val="0C1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76200" rIns="76200"/>
          <a:lstStyle/>
          <a:p>
            <a:pPr algn="ctr"/>
            <a:r>
              <a:rPr sz="1200" b="1">
                <a:solidFill>
                  <a:srgbClr val="38BDF8"/>
                </a:solidFill>
                <a:latin typeface="Arial"/>
              </a:rPr>
              <a:t>证据链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2734056"/>
            <a:ext cx="3648456" cy="109728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DDE6F4"/>
                </a:solidFill>
                <a:latin typeface="Arial"/>
              </a:rPr>
              <a:t>prompt stack（提示词栈）明确要求 verify 和 faithful reporting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DDE6F4"/>
                </a:solidFill>
                <a:latin typeface="Arial"/>
              </a:rPr>
              <a:t>turn loop（轮次循环）不会替用户假设“验证已经完成”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160520"/>
            <a:ext cx="10972800" cy="1234440"/>
          </a:xfrm>
          <a:prstGeom prst="roundRect">
            <a:avLst/>
          </a:prstGeom>
          <a:solidFill>
            <a:srgbClr val="060C1C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03200" bIns="76200" lIns="127000" rIns="127000"/>
          <a:lstStyle/>
          <a:p>
            <a:pPr algn="ctr"/>
            <a:r>
              <a:rPr sz="1250" b="0">
                <a:solidFill>
                  <a:srgbClr val="C5F4FF"/>
                </a:solidFill>
                <a:latin typeface="Courier New"/>
              </a:rPr>
              <a:t>Before reporting a task complete, verify it actually works.
Never claim "all tests pass" when output shows failures.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4160520"/>
            <a:ext cx="10972800" cy="256032"/>
          </a:xfrm>
          <a:prstGeom prst="rect">
            <a:avLst/>
          </a:prstGeom>
          <a:solidFill>
            <a:srgbClr val="0F1830"/>
          </a:solidFill>
          <a:ln>
            <a:solidFill>
              <a:srgbClr val="0F1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76200" rIns="76200"/>
          <a:lstStyle/>
          <a:p>
            <a:pPr algn="ctr"/>
            <a:r>
              <a:rPr sz="1000" b="1">
                <a:solidFill>
                  <a:srgbClr val="38BDF8"/>
                </a:solidFill>
                <a:latin typeface="Courier New"/>
              </a:rPr>
              <a:t>源码提示词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108192"/>
            <a:ext cx="10881360" cy="320040"/>
          </a:xfrm>
          <a:prstGeom prst="rect">
            <a:avLst/>
          </a:prstGeom>
          <a:noFill/>
        </p:spPr>
        <p:txBody>
          <a:bodyPr wrap="square" tIns="12700" bIns="12700" lIns="12700" rIns="12700" anchor="t">
            <a:spAutoFit/>
          </a:bodyPr>
          <a:lstStyle/>
          <a:p>
            <a:pPr algn="l"/>
            <a:r>
              <a:rPr sz="1100" b="0">
                <a:solidFill>
                  <a:srgbClr val="899CBE"/>
                </a:solidFill>
                <a:latin typeface="Arial"/>
              </a:rPr>
              <a:t>源码依据：prompts.ts#L211 / #L240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r>
              <a:rPr sz="2400" b="1">
                <a:solidFill>
                  <a:srgbClr val="F4F7FF"/>
                </a:solidFill>
                <a:latin typeface="Arial"/>
              </a:rPr>
              <a:t>技巧 6：高风险动作先确认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98448"/>
            <a:ext cx="2194560" cy="1828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1481328"/>
            <a:ext cx="10972800" cy="658368"/>
          </a:xfrm>
          <a:prstGeom prst="roundRect">
            <a:avLst/>
          </a:prstGeom>
          <a:solidFill>
            <a:srgbClr val="0C162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0800" bIns="50800" lIns="101600" rIns="101600"/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DDE6F4"/>
                </a:solidFill>
                <a:latin typeface="Arial"/>
              </a:rPr>
              <a:t>高风险动作先确认，不是额外保守，而是 Claude Code 的默认安全边界。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331720"/>
            <a:ext cx="3246120" cy="1554480"/>
          </a:xfrm>
          <a:prstGeom prst="roundRect">
            <a:avLst/>
          </a:prstGeom>
          <a:solidFill>
            <a:srgbClr val="091226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2331720"/>
            <a:ext cx="3246120" cy="347472"/>
          </a:xfrm>
          <a:prstGeom prst="rect">
            <a:avLst/>
          </a:prstGeom>
          <a:solidFill>
            <a:srgbClr val="0C162E"/>
          </a:solidFill>
          <a:ln>
            <a:solidFill>
              <a:srgbClr val="0C1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76200" rIns="76200"/>
          <a:lstStyle/>
          <a:p>
            <a:pPr algn="ctr"/>
            <a:r>
              <a:rPr sz="1200" b="1">
                <a:solidFill>
                  <a:srgbClr val="38BDF8"/>
                </a:solidFill>
                <a:latin typeface="Arial"/>
              </a:rPr>
              <a:t>示例提示词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2734056"/>
            <a:ext cx="3099815" cy="109728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DDE6F4"/>
                </a:solidFill>
                <a:latin typeface="Arial"/>
              </a:rPr>
              <a:t>涉及 push、删除、覆盖、外部发送、破坏性 git 操作时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DDE6F4"/>
                </a:solidFill>
                <a:latin typeface="Arial"/>
              </a:rPr>
              <a:t>先告诉我并确认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33087" y="2331720"/>
            <a:ext cx="3474720" cy="1554480"/>
          </a:xfrm>
          <a:prstGeom prst="roundRect">
            <a:avLst/>
          </a:prstGeom>
          <a:solidFill>
            <a:srgbClr val="091226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33087" y="2331720"/>
            <a:ext cx="3474720" cy="347472"/>
          </a:xfrm>
          <a:prstGeom prst="rect">
            <a:avLst/>
          </a:prstGeom>
          <a:solidFill>
            <a:srgbClr val="0C162E"/>
          </a:solidFill>
          <a:ln>
            <a:solidFill>
              <a:srgbClr val="0C1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76200" rIns="76200"/>
          <a:lstStyle/>
          <a:p>
            <a:pPr algn="ctr"/>
            <a:r>
              <a:rPr sz="1200" b="1">
                <a:solidFill>
                  <a:srgbClr val="38BDF8"/>
                </a:solidFill>
                <a:latin typeface="Arial"/>
              </a:rPr>
              <a:t>源码解释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2734056"/>
            <a:ext cx="3328415" cy="109728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DDE6F4"/>
                </a:solidFill>
                <a:latin typeface="Arial"/>
              </a:rPr>
              <a:t>难以回滚的动作需要更强边界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DDE6F4"/>
                </a:solidFill>
                <a:latin typeface="Arial"/>
              </a:rPr>
              <a:t>能减少误执行带来的 blast radius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36408" y="2331720"/>
            <a:ext cx="3794760" cy="1554480"/>
          </a:xfrm>
          <a:prstGeom prst="roundRect">
            <a:avLst/>
          </a:prstGeom>
          <a:solidFill>
            <a:srgbClr val="091226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36408" y="2331720"/>
            <a:ext cx="3794760" cy="347472"/>
          </a:xfrm>
          <a:prstGeom prst="rect">
            <a:avLst/>
          </a:prstGeom>
          <a:solidFill>
            <a:srgbClr val="0C162E"/>
          </a:solidFill>
          <a:ln>
            <a:solidFill>
              <a:srgbClr val="0C1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5400" bIns="25400" lIns="76200" rIns="76200"/>
          <a:lstStyle/>
          <a:p>
            <a:pPr algn="ctr"/>
            <a:r>
              <a:rPr sz="1200" b="1">
                <a:solidFill>
                  <a:srgbClr val="38BDF8"/>
                </a:solidFill>
                <a:latin typeface="Arial"/>
              </a:rPr>
              <a:t>证据链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2734056"/>
            <a:ext cx="3648456" cy="109728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DDE6F4"/>
                </a:solidFill>
                <a:latin typeface="Arial"/>
              </a:rPr>
              <a:t>prompt stack（提示词栈）先定义确认边界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DDE6F4"/>
                </a:solidFill>
                <a:latin typeface="Arial"/>
              </a:rPr>
              <a:t>tool pipeline（工具执行流水线）和 Bash 约束负责执行面收紧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160520"/>
            <a:ext cx="10972800" cy="1234440"/>
          </a:xfrm>
          <a:prstGeom prst="roundRect">
            <a:avLst/>
          </a:prstGeom>
          <a:solidFill>
            <a:srgbClr val="060C1C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03200" bIns="76200" lIns="127000" rIns="127000"/>
          <a:lstStyle/>
          <a:p>
            <a:pPr algn="ctr"/>
            <a:r>
              <a:rPr sz="1250" b="0">
                <a:solidFill>
                  <a:srgbClr val="C5F4FF"/>
                </a:solidFill>
                <a:latin typeface="Courier New"/>
              </a:rPr>
              <a:t>Carefully consider the reversibility and blast radius of actions.
ask for confirmation before proceeding
Only use destructive operations when they are truly the best approach.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4160520"/>
            <a:ext cx="10972800" cy="256032"/>
          </a:xfrm>
          <a:prstGeom prst="rect">
            <a:avLst/>
          </a:prstGeom>
          <a:solidFill>
            <a:srgbClr val="0F1830"/>
          </a:solidFill>
          <a:ln>
            <a:solidFill>
              <a:srgbClr val="0F1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76200" rIns="76200"/>
          <a:lstStyle/>
          <a:p>
            <a:pPr algn="ctr"/>
            <a:r>
              <a:rPr sz="1000" b="1">
                <a:solidFill>
                  <a:srgbClr val="38BDF8"/>
                </a:solidFill>
                <a:latin typeface="Courier New"/>
              </a:rPr>
              <a:t>源码提示词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108192"/>
            <a:ext cx="10881360" cy="320040"/>
          </a:xfrm>
          <a:prstGeom prst="rect">
            <a:avLst/>
          </a:prstGeom>
          <a:noFill/>
        </p:spPr>
        <p:txBody>
          <a:bodyPr wrap="square" tIns="12700" bIns="12700" lIns="12700" rIns="12700" anchor="t">
            <a:spAutoFit/>
          </a:bodyPr>
          <a:lstStyle/>
          <a:p>
            <a:pPr algn="l"/>
            <a:r>
              <a:rPr sz="1100" b="0">
                <a:solidFill>
                  <a:srgbClr val="899CBE"/>
                </a:solidFill>
                <a:latin typeface="Arial"/>
              </a:rPr>
              <a:t>源码依据：prompts.ts#L258，BashTool prompt#L304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r>
              <a:rPr sz="2400" b="1">
                <a:solidFill>
                  <a:srgbClr val="F4F7FF"/>
                </a:solidFill>
                <a:latin typeface="Arial"/>
              </a:rPr>
              <a:t>两个进阶技巧：parallel 与 Plan Mode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98448"/>
            <a:ext cx="2194560" cy="1828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1536192"/>
            <a:ext cx="10972800" cy="658368"/>
          </a:xfrm>
          <a:prstGeom prst="roundRect">
            <a:avLst/>
          </a:prstGeom>
          <a:solidFill>
            <a:srgbClr val="0C162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0800" bIns="50800" lIns="101600" rIns="101600"/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DDE6F4"/>
                </a:solidFill>
                <a:latin typeface="Arial"/>
              </a:rPr>
              <a:t>对彼此独立的查询，显式允许 parallel（并行），更贴近 Claude Code 的原生工作方式。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450592"/>
            <a:ext cx="5577840" cy="306324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DDE6F4"/>
                </a:solidFill>
                <a:latin typeface="Arial"/>
              </a:rPr>
              <a:t>独立查询可以显式允许 parallel（并行）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DDE6F4"/>
                </a:solidFill>
                <a:latin typeface="Arial"/>
              </a:rPr>
              <a:t>做方案时，先走 Plan Mode workflow（规划模式工作流）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DDE6F4"/>
                </a:solidFill>
                <a:latin typeface="Arial"/>
              </a:rPr>
              <a:t>也就是：先 Explore，再规划，再实现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2468880"/>
            <a:ext cx="4800600" cy="2468880"/>
          </a:xfrm>
          <a:prstGeom prst="roundRect">
            <a:avLst/>
          </a:prstGeom>
          <a:solidFill>
            <a:srgbClr val="060C1C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03200" bIns="76200" lIns="127000" rIns="127000"/>
          <a:lstStyle/>
          <a:p>
            <a:pPr algn="ctr"/>
            <a:r>
              <a:rPr sz="1250" b="0">
                <a:solidFill>
                  <a:srgbClr val="C5F4FF"/>
                </a:solidFill>
                <a:latin typeface="Courier New"/>
              </a:rPr>
              <a:t>make all independent tool calls in parallel
1. Explore — Use read-only tools to read code.
2. Update the plan file.
3. Ask the user only what code cannot answer.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37960" y="2468880"/>
            <a:ext cx="4800600" cy="256032"/>
          </a:xfrm>
          <a:prstGeom prst="rect">
            <a:avLst/>
          </a:prstGeom>
          <a:solidFill>
            <a:srgbClr val="0F1830"/>
          </a:solidFill>
          <a:ln>
            <a:solidFill>
              <a:srgbClr val="0F1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76200" rIns="76200"/>
          <a:lstStyle/>
          <a:p>
            <a:pPr algn="ctr"/>
            <a:r>
              <a:rPr sz="1000" b="1">
                <a:solidFill>
                  <a:srgbClr val="38BDF8"/>
                </a:solidFill>
                <a:latin typeface="Courier New"/>
              </a:rPr>
              <a:t>源码提示词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108192"/>
            <a:ext cx="10881360" cy="320040"/>
          </a:xfrm>
          <a:prstGeom prst="rect">
            <a:avLst/>
          </a:prstGeom>
          <a:noFill/>
        </p:spPr>
        <p:txBody>
          <a:bodyPr wrap="square" tIns="12700" bIns="12700" lIns="12700" rIns="12700" anchor="t">
            <a:spAutoFit/>
          </a:bodyPr>
          <a:lstStyle/>
          <a:p>
            <a:pPr algn="l"/>
            <a:r>
              <a:rPr sz="1100" b="0">
                <a:solidFill>
                  <a:srgbClr val="899CBE"/>
                </a:solidFill>
                <a:latin typeface="Arial"/>
              </a:rPr>
              <a:t>源码依据：prompts.ts#L310，messages.ts#L3336 / #L3344，BashTool prompt#L298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r>
              <a:rPr sz="2400" b="1">
                <a:solidFill>
                  <a:srgbClr val="F4F7FF"/>
                </a:solidFill>
                <a:latin typeface="Arial"/>
              </a:rPr>
              <a:t>常见误区与注意事项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98448"/>
            <a:ext cx="2194560" cy="1828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1536192"/>
            <a:ext cx="10972800" cy="658368"/>
          </a:xfrm>
          <a:prstGeom prst="roundRect">
            <a:avLst/>
          </a:prstGeom>
          <a:solidFill>
            <a:srgbClr val="0C162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0800" bIns="50800" lIns="101600" rIns="101600"/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DDE6F4"/>
                </a:solidFill>
                <a:latin typeface="Arial"/>
              </a:rPr>
              <a:t>大多数误用，本质上都在对抗 Claude Code 源码里的默认工作流。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450592"/>
            <a:ext cx="5577840" cy="306324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DDE6F4"/>
                </a:solidFill>
                <a:latin typeface="Arial"/>
              </a:rPr>
              <a:t>不要把 Claude Code 当自由聊天助手来用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DDE6F4"/>
                </a:solidFill>
                <a:latin typeface="Arial"/>
              </a:rPr>
              <a:t>不要一上来就让它“大改一遍”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DDE6F4"/>
                </a:solidFill>
                <a:latin typeface="Arial"/>
              </a:rPr>
              <a:t>不要默认它已经验证过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DDE6F4"/>
                </a:solidFill>
                <a:latin typeface="Arial"/>
              </a:rPr>
              <a:t>不要把高风险授权写得太模糊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2468880"/>
            <a:ext cx="4800600" cy="2468880"/>
          </a:xfrm>
          <a:prstGeom prst="roundRect">
            <a:avLst/>
          </a:prstGeom>
          <a:solidFill>
            <a:srgbClr val="060C1C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03200" bIns="76200" lIns="127000" rIns="127000"/>
          <a:lstStyle/>
          <a:p>
            <a:pPr algn="ctr"/>
            <a:r>
              <a:rPr sz="1250" b="0">
                <a:solidFill>
                  <a:srgbClr val="C5F4FF"/>
                </a:solidFill>
                <a:latin typeface="Courier New"/>
              </a:rPr>
              <a:t>The user will primarily request you to perform software engineering tasks.
Don't add features, refactor code, or make "improvements" beyond what was asked.
Report outcomes faithfully ...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37960" y="2468880"/>
            <a:ext cx="4800600" cy="256032"/>
          </a:xfrm>
          <a:prstGeom prst="rect">
            <a:avLst/>
          </a:prstGeom>
          <a:solidFill>
            <a:srgbClr val="0F1830"/>
          </a:solidFill>
          <a:ln>
            <a:solidFill>
              <a:srgbClr val="0F1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700" bIns="12700" lIns="76200" rIns="76200"/>
          <a:lstStyle/>
          <a:p>
            <a:pPr algn="ctr"/>
            <a:r>
              <a:rPr sz="1000" b="1">
                <a:solidFill>
                  <a:srgbClr val="38BDF8"/>
                </a:solidFill>
                <a:latin typeface="Courier New"/>
              </a:rPr>
              <a:t>源码提示词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108192"/>
            <a:ext cx="10881360" cy="320040"/>
          </a:xfrm>
          <a:prstGeom prst="rect">
            <a:avLst/>
          </a:prstGeom>
          <a:noFill/>
        </p:spPr>
        <p:txBody>
          <a:bodyPr wrap="square" tIns="12700" bIns="12700" lIns="12700" rIns="12700" anchor="t">
            <a:spAutoFit/>
          </a:bodyPr>
          <a:lstStyle/>
          <a:p>
            <a:pPr algn="l"/>
            <a:r>
              <a:rPr sz="1100" b="0">
                <a:solidFill>
                  <a:srgbClr val="899CBE"/>
                </a:solidFill>
                <a:latin typeface="Arial"/>
              </a:rPr>
              <a:t>源码依据：prompts.ts#L221 / #L200 / #L240 / #L258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tIns="25400" bIns="25400" lIns="25400" rIns="25400" anchor="t">
            <a:spAutoFit/>
          </a:bodyPr>
          <a:lstStyle/>
          <a:p>
            <a:r>
              <a:rPr sz="2400" b="1">
                <a:solidFill>
                  <a:srgbClr val="F4F7FF"/>
                </a:solidFill>
                <a:latin typeface="Arial"/>
              </a:rPr>
              <a:t>最小使用清单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98448"/>
            <a:ext cx="2194560" cy="1828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1536192"/>
            <a:ext cx="10972800" cy="658368"/>
          </a:xfrm>
          <a:prstGeom prst="roundRect">
            <a:avLst/>
          </a:prstGeom>
          <a:solidFill>
            <a:srgbClr val="0C162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0800" bIns="50800" lIns="101600" rIns="101600"/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DDE6F4"/>
                </a:solidFill>
                <a:latin typeface="Arial"/>
              </a:rPr>
              <a:t>这 6 条就是可以直接拍照带走的 Claude Code 最小使用清单。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450592"/>
            <a:ext cx="5577840" cy="3063240"/>
          </a:xfrm>
          <a:prstGeom prst="rect">
            <a:avLst/>
          </a:prstGeom>
          <a:noFill/>
        </p:spPr>
        <p:txBody>
          <a:bodyPr wrap="square" tIns="50800" bIns="50800" lIns="101600" rIns="101600" anchor="t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DDE6F4"/>
                </a:solidFill>
                <a:latin typeface="Arial"/>
              </a:rPr>
              <a:t>任务写成：目标 + 范围 + 约束 + 验证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DDE6F4"/>
                </a:solidFill>
                <a:latin typeface="Arial"/>
              </a:rPr>
              <a:t>明确要求先读代码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DDE6F4"/>
                </a:solidFill>
                <a:latin typeface="Arial"/>
              </a:rPr>
              <a:t>明确要求最小改动、优先复用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DDE6F4"/>
                </a:solidFill>
                <a:latin typeface="Arial"/>
              </a:rPr>
              <a:t>优先 dedicated tools（专用工具），不要默认 Bash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DDE6F4"/>
                </a:solidFill>
                <a:latin typeface="Arial"/>
              </a:rPr>
              <a:t>验证结果要如实汇报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DDE6F4"/>
                </a:solidFill>
                <a:latin typeface="Arial"/>
              </a:rPr>
              <a:t>高风险动作先确认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