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82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800" b="1">
                <a:solidFill>
                  <a:srgbClr val="FFFFFF"/>
                </a:solidFill>
                <a:latin typeface="Arial"/>
              </a:rPr>
              <a:t>Claude Code 使用技巧与注意事项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FFFFFF"/>
                </a:solidFill>
                <a:latin typeface="Arial"/>
              </a:rPr>
              <a:t>使用建议与源码依据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874519"/>
            <a:ext cx="10424160" cy="1645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先说明 Claude Code 从工程上是什么，再解释怎样用会更稳</a:t>
            </a:r>
          </a:p>
          <a:p>
            <a:pPr>
              <a:spcAft>
                <a:spcPts val="800"/>
              </a:spcAft>
            </a:pPr>
            <a:r>
              <a:rPr sz="1800" b="0">
                <a:solidFill>
                  <a:srgbClr val="FFFFFF"/>
                </a:solidFill>
                <a:latin typeface="Arial"/>
              </a:rPr>
              <a:t>每条技巧都附架构支撑、源码依据和关键代码片段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3840480"/>
            <a:ext cx="14173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源码依据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423160" y="3840480"/>
            <a:ext cx="164592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架构视角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06240" y="3840480"/>
            <a:ext cx="1600200" cy="347472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50800" rIns="50800"/>
          <a:lstStyle/>
          <a:p>
            <a:pPr algn="ctr"/>
            <a:r>
              <a:rPr sz="1100" b="1">
                <a:solidFill>
                  <a:srgbClr val="22D3EE"/>
                </a:solidFill>
                <a:latin typeface="Arial"/>
              </a:rPr>
              <a:t>使用方法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结构图：Claude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用最少的层说明系统是怎么跑起来的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02920" y="1965960"/>
            <a:ext cx="182880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User Prompt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用户输入
目标 / 范围 / 约束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69748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Prompt Stack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提示词栈
默认行为约束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QueryEngine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会话宿主
Conversation Host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6092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query.ts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轮次循环
Turn Loop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92640" y="1965960"/>
            <a:ext cx="1965960" cy="132588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Tool Pipeline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工具执行流水线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33172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66344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99516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9326880" y="2633472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2148840" y="4160520"/>
            <a:ext cx="2926080" cy="128016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Tools / Tasks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Bash / Read / Edit
Subagents / Mailbox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0" y="4160520"/>
            <a:ext cx="2194560" cy="128016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Environment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Filesystem / Shell
MCP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92440" y="4160520"/>
            <a:ext cx="2743200" cy="1280160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Control Plane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>Settings / Auth / Policy</a:t>
            </a:r>
          </a:p>
        </p:txBody>
      </p:sp>
      <p:cxnSp>
        <p:nvCxnSpPr>
          <p:cNvPr id="17" name="Connector 16"/>
          <p:cNvCxnSpPr/>
          <p:nvPr/>
        </p:nvCxnSpPr>
        <p:spPr>
          <a:xfrm flipH="1">
            <a:off x="9281160" y="3291840"/>
            <a:ext cx="1371600" cy="86868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5074920" y="4800600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7680960" y="4800600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5806440"/>
            <a:ext cx="10972800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重点：用户技巧之所以有效，是因为它们会直接影响 Prompt Stack、Turn Loop 和 Tool Pipeline 这条主链。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Claude Code 不是什么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不是自由聊天助手，而是默认按 software engineering tasks（软件工程任务）来理解用户请求。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不是“随便说一句就稳定帮你把工程活干好”的黑盒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更像 software engineering agent（软件工程代理）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所以输入越工程化，它通常越稳定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源码依据：/Users/bobo/code/claude-code-source-code/src/constants/prompts.ts#L221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从源码看：Claude Code 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一个 terminal agent runtime（终端代理运行时）的最小架构图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77240" y="1691640"/>
            <a:ext cx="201168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77240" y="1691640"/>
            <a:ext cx="20116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入口层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093976"/>
            <a:ext cx="186537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main.tsx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bootstrap / assembly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5468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15468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会话层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22783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QueryEngine.ts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conversation host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15000" y="1691640"/>
            <a:ext cx="219456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15000" y="1691640"/>
            <a:ext cx="219456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88152" y="2093976"/>
            <a:ext cx="2048255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query.ts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 / runtime kernel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75320" y="1691640"/>
            <a:ext cx="2834640" cy="91440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75320" y="1691640"/>
            <a:ext cx="283464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工具执行层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48472" y="2093976"/>
            <a:ext cx="2688336" cy="4572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toolExecution.ts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55448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55448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能力面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2763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Tools / Bash / Read / Edit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Tasks / Subagents / Mailbox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892040" y="3337560"/>
            <a:ext cx="22402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892040" y="3337560"/>
            <a:ext cx="22402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执行环境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65192" y="3739896"/>
            <a:ext cx="20939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Filesystem / Shell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MCP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52360" y="3337560"/>
            <a:ext cx="2926080" cy="105156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52360" y="3337560"/>
            <a:ext cx="2926080" cy="347472"/>
          </a:xfrm>
          <a:prstGeom prst="rect">
            <a:avLst/>
          </a:prstGeom>
          <a:solidFill>
            <a:srgbClr val="0C1E38"/>
          </a:solidFill>
          <a:ln>
            <a:solidFill>
              <a:srgbClr val="0C1E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控制面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25512" y="3739896"/>
            <a:ext cx="2779776" cy="594359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Settings / Auth / Policy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/ Permissions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278892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534924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7909560" y="2148840"/>
            <a:ext cx="36576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H="1">
            <a:off x="8915400" y="2606040"/>
            <a:ext cx="777240" cy="73152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7132320" y="3858768"/>
            <a:ext cx="3200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4480560" y="3858768"/>
            <a:ext cx="41148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1234440" y="4892040"/>
            <a:ext cx="9738360" cy="685800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E2E8F0"/>
                </a:solidFill>
                <a:latin typeface="Arial"/>
              </a:rPr>
              <a:t>一句话：Claude Code 不是“模型 API + 终端壳”，而是由会话层、轮次循环、工具执行层和控制面组成的本地代理运行时。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关键文件：main.tsx / QueryEngine.ts / query.ts / toolExecution.ts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时序图：一次请求如何流过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85216" y="1005840"/>
            <a:ext cx="10789920" cy="4114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1400" b="0">
                <a:solidFill>
                  <a:srgbClr val="94A3B8"/>
                </a:solidFill>
                <a:latin typeface="Arial"/>
              </a:rPr>
              <a:t>用一条 request → tool → result 链解释用户提示词为什么有效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User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166878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Rounded Rectangle 6"/>
          <p:cNvSpPr/>
          <p:nvPr/>
        </p:nvSpPr>
        <p:spPr>
          <a:xfrm>
            <a:off x="306324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Prompt Stack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81762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21208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QueryEngine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596646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736092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query.ts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8115300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9464040" y="1572768"/>
            <a:ext cx="1508760" cy="749808"/>
          </a:xfrm>
          <a:prstGeom prst="roundRect">
            <a:avLst/>
          </a:prstGeom>
          <a:solidFill>
            <a:srgbClr val="0A1224"/>
          </a:solidFill>
          <a:ln w="2286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52400" rIns="152400"/>
          <a:lstStyle/>
          <a:p>
            <a:pPr algn="ctr"/>
            <a:r>
              <a:rPr sz="2000" b="1">
                <a:solidFill>
                  <a:srgbClr val="22D3EE"/>
                </a:solidFill>
                <a:latin typeface="Arial"/>
              </a:rPr>
              <a:t>Tool Pipeline</a:t>
            </a:r>
          </a:p>
          <a:p>
            <a:pPr algn="ctr">
              <a:spcBef>
                <a:spcPts val="600"/>
              </a:spcBef>
            </a:pPr>
            <a:r>
              <a:rPr sz="1400" b="0">
                <a:solidFill>
                  <a:srgbClr val="E2E8F0"/>
                </a:solidFill>
                <a:latin typeface="Arial"/>
              </a:rPr>
              <a:t/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218419" y="2322576"/>
            <a:ext cx="0" cy="3163824"/>
          </a:xfrm>
          <a:prstGeom prst="line">
            <a:avLst/>
          </a:prstGeom>
          <a:ln w="15240">
            <a:solidFill>
              <a:srgbClr val="1E293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1664208" y="2697480"/>
            <a:ext cx="21488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1773936" y="25694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任务输入 / 约束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813048" y="3154680"/>
            <a:ext cx="2148840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3922776" y="30266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组装 prompt 与 context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961888" y="3611880"/>
            <a:ext cx="2148839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071616" y="34838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启动 turn loop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8110727" y="4069080"/>
            <a:ext cx="2103121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220455" y="3941064"/>
            <a:ext cx="1883664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决定是否调用工具</a:t>
            </a:r>
          </a:p>
        </p:txBody>
      </p:sp>
      <p:cxnSp>
        <p:nvCxnSpPr>
          <p:cNvPr id="23" name="Connector 22"/>
          <p:cNvCxnSpPr/>
          <p:nvPr/>
        </p:nvCxnSpPr>
        <p:spPr>
          <a:xfrm flipH="1">
            <a:off x="8110727" y="4526280"/>
            <a:ext cx="2103121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0455" y="4398264"/>
            <a:ext cx="1883664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tool result 回灌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5961888" y="4983480"/>
            <a:ext cx="2148839" cy="0"/>
          </a:xfrm>
          <a:prstGeom prst="line">
            <a:avLst/>
          </a:prstGeom>
          <a:ln w="15875">
            <a:solidFill>
              <a:srgbClr val="22D3E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ounded Rectangle 25"/>
          <p:cNvSpPr/>
          <p:nvPr/>
        </p:nvSpPr>
        <p:spPr>
          <a:xfrm>
            <a:off x="6071616" y="4855464"/>
            <a:ext cx="1929383" cy="274320"/>
          </a:xfrm>
          <a:prstGeom prst="roundRect">
            <a:avLst/>
          </a:prstGeom>
          <a:solidFill>
            <a:srgbClr val="0C1E38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150" b="0">
                <a:solidFill>
                  <a:srgbClr val="E2E8F0"/>
                </a:solidFill>
                <a:latin typeface="Arial"/>
              </a:rPr>
              <a:t>继续 / 收敛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85800" y="5806440"/>
            <a:ext cx="10972800" cy="38404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300" b="0">
                <a:solidFill>
                  <a:srgbClr val="E2E8F0"/>
                </a:solidFill>
                <a:latin typeface="Arial"/>
              </a:rPr>
              <a:t>结论：目标、范围、约束、验证写得越清楚，越能稳定影响 prompt stack、turn loop 和 tool pipeline 的每一步。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默认偏好的工作方式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后面的所有使用技巧，都是把源码里的默认偏好显式写进用户提示里。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先读代码，再改代码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最小必要改动，优先复用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验证后如实汇报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Do NOT use the Bash tool to run commands when a relevant dedicated tool is provided.
Report outcomes faithfully: if tests fail, say so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 / #L203 / #L305 / #L240 / #L258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1：目标 + 范围 + 约束 + 验证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最稳定的输入方式，是把任务写成“目标 + 范围 + 约束 + 验证”。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目标：修复/实现……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范围：只改……相关代码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约束：不要做无关重构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验证：跑测试并说明结果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减少分析 / 实现 / 顺手优化之间的歧义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让 turn loop（轮次循环）围绕明确目标推进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stack（提示词栈）默认把请求理解成软件工程任务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loop（轮次循环）会围绕目标、范围和验证持续推进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In general, do not propose changes to code you haven't read.
Report outcomes faithfully: if tests fail, say so ...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#L230 / #L240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2：先读代码，再改代码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“先读代码，再改代码”不是建议项，而是源码里的默认工作顺序。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先看 src/foo.ts 和 src/bar.ts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再决定改法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减少无关探索和上下文噪音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更容易沿用现有实现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stack（提示词栈）明确要求先读代码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Plan Mode workflow（规划模式工作流）先 Explore 再规划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In general, do not propose changes to code you haven't read.
If a user asks about or wants you to modify a file, read it first.
1. Explore — Use read-only tools to read code.
Look for existing functions, utilities, and patterns to reuse.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源码依据：prompts.ts#L230，messages.ts#L3344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3：最小改动、优先复用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把“最小改动、优先复用”写出来，能明显降低顺手重构和过早抽象。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做最小必要改动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优先复用现有函数、工具和模式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不要新造一层抽象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抑制范围漂移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 one-time helper 和过早抽象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stack（提示词栈）本身就在压制不必要改动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pipeline（工具执行流水线）更适合局部、清晰、可验证的改动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Don't add features, refactor code, or make "improvements" beyond what was asked.
Don't create helpers, utilities, or abstractions for one-time operations.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源码依据：prompts.ts#L200 / #L203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4：优先 dedicated tools（专用工具）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Claude Code 更偏好 dedicated tools（专用工具），Bash 在源码里是 fallback，不是首选。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优先直接读写文件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不要用 Bash 做本可由专用工具完成的事情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专用工具更容易被解释和审查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也更容易受权限和执行链约束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pipeline（工具执行流水线）里，dedicated tools 是一等能力面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Bash 是更自由也更高风险的 fallback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default to using the dedicated tool and only fallback on using the Bash tool ...
Do NOT use the Bash tool to run commands when a relevant dedicated tool is provided.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源码依据：prompts.ts#L301 / #L305，BashTool prompt#L297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5：验证要求要写清楚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不要默认 Claude Code 已经验证过，验证要求必须显式写出来。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改完后跑相关测试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如果没跑，请明确说明没有跑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减少“看似完成、其实没验证”的风险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避免把未验证结果包装成完成状态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stack（提示词栈）明确要求 verify 和 faithful reporting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turn loop（轮次循环）不会替用户假设“验证已经完成”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Before reporting a task complete, verify it actually works.
Never claim "all tests pass" when output shows failures.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源码依据：prompts.ts#L211 / #L240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技巧 6：高风险动作先确认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481328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高风险动作先确认，不是额外保守，而是 Claude Code 的默认安全边界。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58368" y="2331720"/>
            <a:ext cx="32461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2331720"/>
            <a:ext cx="32461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示例提示词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2734056"/>
            <a:ext cx="30998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涉及 push、删除、覆盖、外部发送、破坏性 git 操作时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先告诉我并确认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33087" y="2331720"/>
            <a:ext cx="347472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133087" y="2331720"/>
            <a:ext cx="347472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源码解释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734056"/>
            <a:ext cx="3328415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难以回滚的动作需要更强边界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能减少误执行带来的 blast radius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836408" y="2331720"/>
            <a:ext cx="3794760" cy="1554480"/>
          </a:xfrm>
          <a:prstGeom prst="roundRect">
            <a:avLst/>
          </a:prstGeom>
          <a:solidFill>
            <a:srgbClr val="0A1224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836408" y="2331720"/>
            <a:ext cx="3794760" cy="347472"/>
          </a:xfrm>
          <a:prstGeom prst="rect">
            <a:avLst/>
          </a:prstGeom>
          <a:solidFill>
            <a:srgbClr val="0F172A"/>
          </a:solidFill>
          <a:ln>
            <a:solidFill>
              <a:srgbClr val="0F172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200" b="1">
                <a:solidFill>
                  <a:srgbClr val="22D3EE"/>
                </a:solidFill>
                <a:latin typeface="Arial"/>
              </a:rPr>
              <a:t>证据链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734056"/>
            <a:ext cx="3648456" cy="10972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prompt stack（提示词栈）先定义确认边界</a:t>
            </a:r>
          </a:p>
          <a:p>
            <a:pPr>
              <a:spcAft>
                <a:spcPts val="600"/>
              </a:spcAft>
            </a:pPr>
            <a:r>
              <a:rPr sz="1400" b="0">
                <a:solidFill>
                  <a:srgbClr val="E2E8F0"/>
                </a:solidFill>
                <a:latin typeface="Arial"/>
              </a:rPr>
              <a:t>tool pipeline（工具执行流水线）和 Bash 约束负责执行面收紧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160520"/>
            <a:ext cx="10972800" cy="123444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Carefully consider the reversibility and blast radius of actions.
ask for confirmation before proceeding
Only use destructive operations when they are truly the best approach.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8368" y="4160520"/>
            <a:ext cx="109728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源码依据：prompts.ts#L258，BashTool prompt#L304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两个进阶技巧：parallel 与 Plan Mode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对彼此独立的查询，显式允许 parallel（并行），更贴近 Claude Code 的原生工作方式。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独立查询可以显式允许 parallel（并行）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做方案时，先走 Plan Mode workflow（规划模式工作流）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也就是：先 Explore，再规划，再实现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make all independent tool calls in parallel
1. Explore — Use read-only tools to read code.
2. Update the plan file.
3. Ask the user only what code cannot answer.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源码依据：prompts.ts#L310，messages.ts#L3336 / #L3344，BashTool prompt#L298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常见误区与注意事项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大多数误用，本质上都在对抗 Claude Code 源码里的默认工作流。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 Claude Code 当自由聊天助手来用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不要一上来就让它“大改一遍”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不要默认它已经验证过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不要把高风险授权写得太模糊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37960" y="2468880"/>
            <a:ext cx="4800600" cy="2468880"/>
          </a:xfrm>
          <a:prstGeom prst="roundRect">
            <a:avLst/>
          </a:prstGeom>
          <a:solidFill>
            <a:srgbClr val="030712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03200" bIns="76200" lIns="127000" rIns="127000"/>
          <a:lstStyle/>
          <a:p>
            <a:pPr algn="ctr"/>
            <a:r>
              <a:rPr sz="1250" b="0">
                <a:solidFill>
                  <a:srgbClr val="C4FFEC"/>
                </a:solidFill>
                <a:latin typeface="Courier New"/>
              </a:rPr>
              <a:t>The user will primarily request you to perform software engineering tasks.
Don't add features, refactor code, or make "improvements" beyond what was asked.
Report outcomes faithfully ...</a:t>
            </a:r>
          </a:p>
        </p:txBody>
      </p:sp>
      <p:sp>
        <p:nvSpPr>
          <p:cNvPr id="7" name="Rectangle 6"/>
          <p:cNvSpPr/>
          <p:nvPr/>
        </p:nvSpPr>
        <p:spPr>
          <a:xfrm>
            <a:off x="6537960" y="2468880"/>
            <a:ext cx="4800600" cy="256032"/>
          </a:xfrm>
          <a:prstGeom prst="rect">
            <a:avLst/>
          </a:prstGeom>
          <a:solidFill>
            <a:srgbClr val="0D1426"/>
          </a:solidFill>
          <a:ln>
            <a:solidFill>
              <a:srgbClr val="0D14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2700" bIns="12700" lIns="76200" rIns="76200"/>
          <a:lstStyle/>
          <a:p>
            <a:pPr algn="ctr"/>
            <a:r>
              <a:rPr sz="1000" b="1">
                <a:solidFill>
                  <a:srgbClr val="22D3EE"/>
                </a:solidFill>
                <a:latin typeface="Courier New"/>
              </a:rPr>
              <a:t>源码提示词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6108192"/>
            <a:ext cx="10881360" cy="320040"/>
          </a:xfrm>
          <a:prstGeom prst="rect">
            <a:avLst/>
          </a:prstGeom>
          <a:noFill/>
        </p:spPr>
        <p:txBody>
          <a:bodyPr wrap="square" tIns="12700" bIns="12700" lIns="12700" rIns="12700" anchor="t">
            <a:spAutoFit/>
          </a:bodyPr>
          <a:lstStyle/>
          <a:p>
            <a:pPr algn="l"/>
            <a:r>
              <a:rPr sz="1100" b="0">
                <a:solidFill>
                  <a:srgbClr val="94A3B8"/>
                </a:solidFill>
                <a:latin typeface="Arial"/>
              </a:rPr>
              <a:t>源码依据：prompts.ts#L221 / #L200 / #L240 / #L258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2061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47472"/>
            <a:ext cx="11064240" cy="640080"/>
          </a:xfrm>
          <a:prstGeom prst="rect">
            <a:avLst/>
          </a:prstGeom>
          <a:noFill/>
        </p:spPr>
        <p:txBody>
          <a:bodyPr wrap="square" tIns="25400" bIns="25400" lIns="25400" rIns="25400" anchor="t">
            <a:spAutoFit/>
          </a:bodyPr>
          <a:lstStyle/>
          <a:p>
            <a:r>
              <a:rPr sz="2400" b="1">
                <a:solidFill>
                  <a:srgbClr val="F1F5F9"/>
                </a:solidFill>
                <a:latin typeface="Arial"/>
              </a:rPr>
              <a:t>最小使用清单</a:t>
            </a:r>
          </a:p>
        </p:txBody>
      </p:sp>
      <p:sp>
        <p:nvSpPr>
          <p:cNvPr id="3" name="Rectangle 2"/>
          <p:cNvSpPr/>
          <p:nvPr/>
        </p:nvSpPr>
        <p:spPr>
          <a:xfrm>
            <a:off x="566928" y="1298448"/>
            <a:ext cx="2194560" cy="18288"/>
          </a:xfrm>
          <a:prstGeom prst="rect">
            <a:avLst/>
          </a:prstGeom>
          <a:solidFill>
            <a:srgbClr val="22D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1536192"/>
            <a:ext cx="10972800" cy="658368"/>
          </a:xfrm>
          <a:prstGeom prst="roundRect">
            <a:avLst/>
          </a:prstGeom>
          <a:solidFill>
            <a:srgbClr val="0F172A"/>
          </a:solidFill>
          <a:ln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50800" bIns="50800" lIns="101600" rIns="101600"/>
          <a:lstStyle/>
          <a:p>
            <a:pPr algn="ctr">
              <a:spcAft>
                <a:spcPts val="600"/>
              </a:spcAft>
            </a:pPr>
            <a:r>
              <a:rPr sz="1600" b="0">
                <a:solidFill>
                  <a:srgbClr val="E2E8F0"/>
                </a:solidFill>
                <a:latin typeface="Arial"/>
              </a:rPr>
              <a:t>这 6 条就是可以直接拍照带走的 Claude Code 最小使用清单。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49808" y="2450592"/>
            <a:ext cx="5577840" cy="30632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任务写成：目标 + 范围 + 约束 + 验证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明确要求先读代码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明确要求最小改动、优先复用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优先 dedicated tools（专用工具），不要默认 Bash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验证结果要如实汇报</a:t>
            </a:r>
          </a:p>
          <a:p>
            <a:pPr>
              <a:spcAft>
                <a:spcPts val="800"/>
              </a:spcAft>
            </a:pPr>
            <a:r>
              <a:rPr sz="1700" b="0">
                <a:solidFill>
                  <a:srgbClr val="E2E8F0"/>
                </a:solidFill>
                <a:latin typeface="Arial"/>
              </a:rPr>
              <a:t>高风险动作先确认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